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4b5d848-c65d-5f84-9ac5-ccb1ca83c776}">
          <p14:sldIdLst>
            <p14:sldId id="256"/>
          </p14:sldIdLst>
        </p14:section>
        <p14:section name="Problem 1" id="{92d7abf4-2295-9c8d-aec6-d2b3739072aa}">
          <p14:sldIdLst>
            <p14:sldId id="257"/>
            <p14:sldId id="258"/>
          </p14:sldIdLst>
        </p14:section>
        <p14:section name="Problem 2" id="{4bdb643f-2187-9960-3bfb-db7558abd227}">
          <p14:sldIdLst>
            <p14:sldId id="259"/>
          </p14:sldIdLst>
        </p14:section>
        <p14:section name="Problem 3" id="{295a987a-be73-ba73-4489-8d76f7c877cb}">
          <p14:sldIdLst>
            <p14:sldId id="260"/>
          </p14:sldIdLst>
        </p14:section>
        <p14:section name="Problem 4" id="{29428b35-a8cf-5c73-7d72-106b6c14d8c6}">
          <p14:sldIdLst>
            <p14:sldId id="261"/>
          </p14:sldIdLst>
        </p14:section>
        <p14:section name="Problem 5" id="{a3e15dc8-9819-700a-68e9-054331abcd0c}">
          <p14:sldIdLst>
            <p14:sldId id="262"/>
            <p14:sldId id="263"/>
          </p14:sldIdLst>
        </p14:section>
        <p14:section name="Close" id="{5b97f897-0429-895a-252b-cba19433a17b}">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313D"/>
                </a:solidFill>
                <a:latin typeface="+mn-lt"/>
              </a:defRPr>
            </a:pPr>
            <a:r>
              <a:rPr sz="1200" b="0" i="0" u="none" strike="noStrike">
                <a:solidFill>
                  <a:srgbClr val="23313D"/>
                </a:solidFill>
                <a:latin typeface="+mn-lt"/>
              </a:rPr>
              <a:t>Relative to plain MC (plain = 1)</a:t>
            </a:r>
          </a:p>
        </c:rich>
      </c:tx>
      <c:layout/>
      <c:overlay val="0"/>
    </c:title>
    <c:autoTitleDeleted val="0"/>
    <c:plotArea>
      <c:layout/>
      <c:barChart>
        <c:barDir val="col"/>
        <c:grouping val="clustered"/>
        <c:varyColors val="0"/>
        <c:ser>
          <c:idx val="0"/>
          <c:order val="0"/>
          <c:tx>
            <c:strRef>
              <c:f>Sheet1!$B$1</c:f>
              <c:strCache>
                <c:ptCount val="1"/>
                <c:pt idx="0">
                  <c:v>VRF</c:v>
                </c:pt>
              </c:strCache>
            </c:strRef>
          </c:tx>
          <c:spPr>
            <a:solidFill>
              <a:srgbClr val="2F7D8C"/>
            </a:solidFill>
            <a:effectLst/>
          </c:spPr>
          <c:invertIfNegative val="0"/>
          <c:dLbls>
            <c:numFmt formatCode="0.0" sourceLinked="0"/>
            <c:txPr>
              <a:bodyPr/>
              <a:lstStyle/>
              <a:p>
                <a:pPr>
                  <a:defRPr b="0" i="0" strike="noStrike" sz="1100" u="none">
                    <a:solidFill>
                      <a:srgbClr val="1E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CV</c:v>
                  </c:pt>
                  <c:pt idx="1">
                    <c:v>AV</c:v>
                  </c:pt>
                  <c:pt idx="2">
                    <c:v>AV+CV</c:v>
                  </c:pt>
                </c:lvl>
              </c:multiLvlStrCache>
            </c:multiLvlStrRef>
          </c:cat>
          <c:val>
            <c:numRef>
              <c:f>Sheet1!$B$2:$B$4</c:f>
              <c:numCache>
                <c:formatCode>General</c:formatCode>
                <c:ptCount val="3"/>
                <c:pt idx="0">
                  <c:v>3.16</c:v>
                </c:pt>
                <c:pt idx="1">
                  <c:v>1.37</c:v>
                </c:pt>
                <c:pt idx="2">
                  <c:v>2.99</c:v>
                </c:pt>
              </c:numCache>
            </c:numRef>
          </c:val>
        </c:ser>
        <c:ser>
          <c:idx val="1"/>
          <c:order val="1"/>
          <c:tx>
            <c:strRef>
              <c:f>Sheet1!$C$1</c:f>
              <c:strCache>
                <c:ptCount val="1"/>
                <c:pt idx="0">
                  <c:v>Gain</c:v>
                </c:pt>
              </c:strCache>
            </c:strRef>
          </c:tx>
          <c:spPr>
            <a:solidFill>
              <a:srgbClr val="D9622B"/>
            </a:solidFill>
            <a:effectLst/>
          </c:spPr>
          <c:invertIfNegative val="0"/>
          <c:dLbls>
            <c:numFmt formatCode="0.0" sourceLinked="0"/>
            <c:txPr>
              <a:bodyPr/>
              <a:lstStyle/>
              <a:p>
                <a:pPr>
                  <a:defRPr b="0" i="0" strike="noStrike" sz="1100" u="none">
                    <a:solidFill>
                      <a:srgbClr val="1E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CV</c:v>
                  </c:pt>
                  <c:pt idx="1">
                    <c:v>AV</c:v>
                  </c:pt>
                  <c:pt idx="2">
                    <c:v>AV+CV</c:v>
                  </c:pt>
                </c:lvl>
              </c:multiLvlStrCache>
            </c:multiLvlStrRef>
          </c:cat>
          <c:val>
            <c:numRef>
              <c:f>Sheet1!$C$2:$C$4</c:f>
              <c:numCache>
                <c:formatCode>General</c:formatCode>
                <c:ptCount val="3"/>
                <c:pt idx="0">
                  <c:v>2.32</c:v>
                </c:pt>
                <c:pt idx="1">
                  <c:v>1.86</c:v>
                </c:pt>
                <c:pt idx="2">
                  <c:v>2.82</c:v>
                </c:pt>
              </c:numCache>
            </c:numRef>
          </c:val>
        </c:ser>
        <c:dLbls>
          <c:numFmt formatCode="0.0" sourceLinked="0"/>
          <c:txPr>
            <a:bodyPr/>
            <a:lstStyle/>
            <a:p>
              <a:pPr>
                <a:defRPr b="0" i="0" strike="noStrike" sz="1100" u="none">
                  <a:solidFill>
                    <a:srgbClr val="1E23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7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77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313D"/>
                </a:solidFill>
                <a:latin typeface="+mn-lt"/>
              </a:defRPr>
            </a:pPr>
            <a:r>
              <a:rPr sz="1200" b="0" i="0" u="none" strike="noStrike">
                <a:solidFill>
                  <a:srgbClr val="23313D"/>
                </a:solidFill>
                <a:latin typeface="+mn-lt"/>
              </a:rPr>
              <a:t>VRF; one parameter changed at a time</a:t>
            </a:r>
          </a:p>
        </c:rich>
      </c:tx>
      <c:layout/>
      <c:overlay val="0"/>
    </c:title>
    <c:autoTitleDeleted val="0"/>
    <c:plotArea>
      <c:layout/>
      <c:barChart>
        <c:barDir val="col"/>
        <c:grouping val="clustered"/>
        <c:varyColors val="0"/>
        <c:ser>
          <c:idx val="0"/>
          <c:order val="0"/>
          <c:tx>
            <c:strRef>
              <c:f>Sheet1!$B$1</c:f>
              <c:strCache>
                <c:ptCount val="1"/>
                <c:pt idx="0">
                  <c:v>CV</c:v>
                </c:pt>
              </c:strCache>
            </c:strRef>
          </c:tx>
          <c:spPr>
            <a:solidFill>
              <a:srgbClr val="2F7D8C"/>
            </a:solidFill>
            <a:effectLst/>
          </c:spPr>
          <c:invertIfNegative val="0"/>
          <c:dLbls>
            <c:numFmt formatCode="0.0" sourceLinked="0"/>
            <c:txPr>
              <a:bodyPr/>
              <a:lstStyle/>
              <a:p>
                <a:pPr>
                  <a:defRPr b="0" i="0" strike="noStrike" sz="1100" u="none">
                    <a:solidFill>
                      <a:srgbClr val="1E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Baseline</c:v>
                  </c:pt>
                  <c:pt idx="1">
                    <c:v>η = 0.5</c:v>
                  </c:pt>
                  <c:pt idx="2">
                    <c:v>H = 0.4</c:v>
                  </c:pt>
                </c:lvl>
              </c:multiLvlStrCache>
            </c:multiLvlStrRef>
          </c:cat>
          <c:val>
            <c:numRef>
              <c:f>Sheet1!$B$2:$B$4</c:f>
              <c:numCache>
                <c:formatCode>General</c:formatCode>
                <c:ptCount val="3"/>
                <c:pt idx="0">
                  <c:v>3.2</c:v>
                </c:pt>
                <c:pt idx="1">
                  <c:v>20.4</c:v>
                </c:pt>
                <c:pt idx="2">
                  <c:v>7.1</c:v>
                </c:pt>
              </c:numCache>
            </c:numRef>
          </c:val>
        </c:ser>
        <c:ser>
          <c:idx val="1"/>
          <c:order val="1"/>
          <c:tx>
            <c:strRef>
              <c:f>Sheet1!$C$1</c:f>
              <c:strCache>
                <c:ptCount val="1"/>
                <c:pt idx="0">
                  <c:v>AV+CV</c:v>
                </c:pt>
              </c:strCache>
            </c:strRef>
          </c:tx>
          <c:spPr>
            <a:solidFill>
              <a:srgbClr val="D9622B"/>
            </a:solidFill>
            <a:effectLst/>
          </c:spPr>
          <c:invertIfNegative val="0"/>
          <c:dLbls>
            <c:numFmt formatCode="0.0" sourceLinked="0"/>
            <c:txPr>
              <a:bodyPr/>
              <a:lstStyle/>
              <a:p>
                <a:pPr>
                  <a:defRPr b="0" i="0" strike="noStrike" sz="1100" u="none">
                    <a:solidFill>
                      <a:srgbClr val="1E2328"/>
                    </a:solidFill>
                    <a:latin typeface="+mn-lt"/>
                  </a:defRPr>
                </a:pPr>
              </a:p>
            </c:txPr>
            <c:showLegendKey val="0"/>
            <c:showVal val="1"/>
            <c:showCatName val="0"/>
            <c:showSerName val="0"/>
            <c:showPercent val="0"/>
            <c:showBubbleSize val="0"/>
            <c:showLeaderLines val="0"/>
          </c:dLbls>
          <c:cat>
            <c:multiLvlStrRef>
              <c:f>Sheet1!$A$2:$A$4</c:f>
              <c:multiLvlStrCache>
                <c:ptCount val="3"/>
                <c:lvl>
                  <c:pt idx="0">
                    <c:v>Baseline</c:v>
                  </c:pt>
                  <c:pt idx="1">
                    <c:v>η = 0.5</c:v>
                  </c:pt>
                  <c:pt idx="2">
                    <c:v>H = 0.4</c:v>
                  </c:pt>
                </c:lvl>
              </c:multiLvlStrCache>
            </c:multiLvlStrRef>
          </c:cat>
          <c:val>
            <c:numRef>
              <c:f>Sheet1!$C$2:$C$4</c:f>
              <c:numCache>
                <c:formatCode>General</c:formatCode>
                <c:ptCount val="3"/>
                <c:pt idx="0">
                  <c:v>3</c:v>
                </c:pt>
                <c:pt idx="1">
                  <c:v>21.1</c:v>
                </c:pt>
                <c:pt idx="2">
                  <c:v>8.6</c:v>
                </c:pt>
              </c:numCache>
            </c:numRef>
          </c:val>
        </c:ser>
        <c:dLbls>
          <c:numFmt formatCode="0.0" sourceLinked="0"/>
          <c:txPr>
            <a:bodyPr/>
            <a:lstStyle/>
            <a:p>
              <a:pPr>
                <a:defRPr b="0" i="0" strike="noStrike" sz="1100" u="none">
                  <a:solidFill>
                    <a:srgbClr val="1E23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7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7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the homework: price puts in the rough Bergomi model by Monte Carlo and measure how much control variates and antithetic variates help, separating variance reduction (VRF) from efficiency including run time (Gain). Parameters: S0 = 100, xi = 0.04, T = 0.5, H = 0.1, eta = 1.5, rho = -0.7, K = 90, 100, 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Y is a Wiener integral of a deterministic kernel, so it is Gaussian; the Ito isometry gives variance t^{2H}; the Gaussian moment formula gives E[V_t] = xi. a_H = sqrt(2H)/(H+1/2) is in (0,1) for 0 &lt; H &lt; 1/2, and the exact last-step term has covariance a_H Delta^{H+1/2} with Delta W_j, the same as the exact integral. (b) The terms of Y_j are independent Gaussians, so its variance is q_j. Dividing by exp(eta^2 q_j / 2) cancels the Gaussian exponential moment exactly. q_j is below t_j^{2H} because averaging the kernel lowers its squared integral (Cauchy-Schwarz).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At j = 32, 64, 128 the sample mean of Y is within 1.8 SE of zero, the sample variance is within 0.8% of q_j, and the sample mean of V is within about 2 SE of xi. The plot uses the same Gaussian inputs at H = 0.1 and H = 0.4. (d) With eta = 0 every V_j equals xi, so the log stock is a sum of Gaussian increments with total variance xi T: exact Black-Scholes. A dependence bug in the stock noise changes that variance and is caught; a bug in the variance path is invisible because the variance path does not matter at eta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E[R] = E[X] - beta (E[C] - c_K) = p. Var R is a quadratic in beta, minimised at Cov/Var, with minimum Var X (1 - rho^2). (b) Given the pilot, beta is a constant, so production observations are iid with the right mean, and the usual SE applies. Fitting beta on the production sample makes it depend on the same C's: small bias and dependent observations. (c) The estimated beta can still fail to reduce variance in a given sample: a fixed beta helps only if it is within beta* of beta*, and sample variances are noisy.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 standard normal law is symmetric, so -Z has the same law as Z and both payoffs are correctly distributed; Y is linear in the inputs so it flips sign. (b) Var of a pair average is sigma^2 (1 + r)/2; with M pairs that is sigma^2 (1 + r)/(2M) versus sigma^2/(2M) for plain MC with 2M paths. Antithetic is guaranteed to help for payoffs monotone in each input; here raising G moves the stock one way and the variance another. (c) The naive SE drops the within-pair covariance.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Splitting each payoff into a part that is even in Z and a part that is odd: the pair average keeps only the even part, so gamma* is the slope on even parts, while beta* mixes even and odd slopes. Numerically the production mean of C_A is within about 1 SE of c_K, consistent with unbiasedness.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budget: 100,000 production path evaluations per method; pilots of 10,000. VRF compares squared standard errors with plain MC; Gain also divides by run time including the pilot. K = 100 shown; the report has K = 90 and 110. AV+CV has the largest Gain at K = 90 and 100; at K = 110 the Gains are within timing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Gains: eta = 0.5: CV 14.6, AV+CV 19.0; H = 0.4: CV 5.4, AV+CV 9.0. Problem 5(d) (seeds, versions, batching) is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VRF compares error for the same number of path evaluations; Gain also accounts for computation time. The two can rank methods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788920"/>
            <a:ext cx="804672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txBox="1"/>
          <p:nvPr/>
        </p:nvSpPr>
        <p:spPr>
          <a:xfrm>
            <a:off x="457200" y="4754880"/>
            <a:ext cx="3657600" cy="274320"/>
          </a:xfrm>
          <a:prstGeom prst="rect">
            <a:avLst/>
          </a:prstGeom>
          <a:noFill/>
          <a:ln/>
        </p:spPr>
        <p:txBody>
          <a:bodyPr wrap="square" rtlCol="0" anchor="ctr"/>
          <a:lstStyle/>
          <a:p>
            <a:pPr indent="0" marL="0">
              <a:buNone/>
            </a:pPr>
            <a:r>
              <a:rPr lang="en-US" sz="1000" dirty="0">
                <a:solidFill>
                  <a:schemeClr val="accent5"/>
                </a:solidFill>
              </a:rPr>
              <a:t>MTH 9821 · Team 9</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nchor="b"/>
          <a:lstStyle/>
          <a:p>
            <a:pPr algn="l" indent="0" marL="0">
              <a:buNone/>
            </a:pPr>
            <a:r>
              <a:rPr lang="en-US" sz="3600" b="1" dirty="0">
                <a:solidFill>
                  <a:schemeClr val="bg1"/>
                </a:solidFill>
              </a:rPr>
              <a:t>Variance reduction in a rough volatility model</a:t>
            </a:r>
            <a:endParaRPr lang="en-US" sz="3600" dirty="0"/>
          </a:p>
        </p:txBody>
      </p:sp>
      <p:sp>
        <p:nvSpPr>
          <p:cNvPr id="3" name="Text 0"/>
          <p:cNvSpPr/>
          <p:nvPr>
            <p:ph idx="101" type="body" hasCustomPrompt="1"/>
          </p:nvPr>
        </p:nvSpPr>
        <p:spPr>
          <a:xfrm>
            <a:off x="548640" y="2788920"/>
            <a:ext cx="8046720" cy="1097280"/>
          </a:xfrm>
          <a:prstGeom prst="rect">
            <a:avLst/>
          </a:prstGeom>
          <a:noFill/>
          <a:ln/>
        </p:spPr>
        <p:txBody>
          <a:bodyPr wrap="square" rtlCol="0" anchor="t"/>
          <a:lstStyle/>
          <a:p>
            <a:pPr indent="0" marL="0">
              <a:buNone/>
            </a:pPr>
            <a:r>
              <a:rPr lang="en-US" sz="1600" dirty="0">
                <a:solidFill>
                  <a:schemeClr val="accent3"/>
                </a:solidFill>
              </a:rPr>
              <a:t>Control variates and antithetic variates for rough Bergomi put prices</a:t>
            </a:r>
            <a:endParaRPr lang="en-US" sz="1600" dirty="0"/>
          </a:p>
          <a:p>
            <a:pPr indent="0" marL="0">
              <a:buNone/>
            </a:pPr>
            <a:r>
              <a:rPr lang="en-US" sz="1600" dirty="0">
                <a:solidFill>
                  <a:schemeClr val="accent3"/>
                </a:solidFill>
              </a:rPr>
              <a:t>Team 9 · Jaskaran Kalra, William McDonnell</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Q1 (a)–(b): the simulator</a:t>
            </a:r>
            <a:endParaRPr lang="en-US" sz="2600" dirty="0"/>
          </a:p>
        </p:txBody>
      </p:sp>
      <p:sp>
        <p:nvSpPr>
          <p:cNvPr id="3" name="q1ab bullets"/>
          <p:cNvSpPr txBox="1"/>
          <p:nvPr/>
        </p:nvSpPr>
        <p:spPr>
          <a:xfrm>
            <a:off x="457200" y="1097280"/>
            <a:ext cx="4754880" cy="3474720"/>
          </a:xfrm>
          <a:prstGeom prst="rect">
            <a:avLst/>
          </a:prstGeom>
          <a:noFill/>
          <a:ln/>
        </p:spPr>
        <p:txBody>
          <a:bodyPr wrap="square" rtlCol="0" anchor="t"/>
          <a:lstStyle/>
          <a:p>
            <a:pPr indent="0" marL="0">
              <a:spcAft>
                <a:spcPts val="700"/>
              </a:spcAft>
              <a:buNone/>
            </a:pPr>
            <a:r>
              <a:rPr lang="en-US" sz="1400" b="1" dirty="0">
                <a:solidFill>
                  <a:srgbClr val="D9622B"/>
                </a:solidFill>
              </a:rPr>
              <a:t>(a)  </a:t>
            </a:r>
            <a:pPr indent="0" marL="0">
              <a:spcAft>
                <a:spcPts val="700"/>
              </a:spcAft>
              <a:buNone/>
            </a:pPr>
            <a:r>
              <a:rPr lang="en-US" sz="1400" dirty="0">
                <a:solidFill>
                  <a:schemeClr val="tx1"/>
                </a:solidFill>
              </a:rPr>
              <a:t>Y</a:t>
            </a:r>
            <a:pPr indent="0" marL="0">
              <a:spcAft>
                <a:spcPts val="700"/>
              </a:spcAft>
              <a:buNone/>
            </a:pPr>
            <a:r>
              <a:rPr lang="en-US" sz="1400" baseline="-40000" dirty="0">
                <a:solidFill>
                  <a:schemeClr val="tx1"/>
                </a:solidFill>
              </a:rPr>
              <a:t>t</a:t>
            </a:r>
            <a:pPr indent="0" marL="0">
              <a:spcAft>
                <a:spcPts val="700"/>
              </a:spcAft>
              <a:buNone/>
            </a:pPr>
            <a:r>
              <a:rPr lang="en-US" sz="1400" dirty="0">
                <a:solidFill>
                  <a:schemeClr val="tx1"/>
                </a:solidFill>
              </a:rPr>
              <a:t> is Gaussian with mean 0 and variance t</a:t>
            </a:r>
            <a:pPr indent="0" marL="0">
              <a:spcAft>
                <a:spcPts val="700"/>
              </a:spcAft>
              <a:buNone/>
            </a:pPr>
            <a:r>
              <a:rPr lang="en-US" sz="1400" baseline="30000" dirty="0">
                <a:solidFill>
                  <a:schemeClr val="tx1"/>
                </a:solidFill>
              </a:rPr>
              <a:t>2H</a:t>
            </a:r>
            <a:pPr indent="0" marL="0">
              <a:spcAft>
                <a:spcPts val="700"/>
              </a:spcAft>
              <a:buNone/>
            </a:pPr>
            <a:r>
              <a:rPr lang="en-US" sz="1400" dirty="0">
                <a:solidFill>
                  <a:schemeClr val="tx1"/>
                </a:solidFill>
              </a:rPr>
              <a:t>, so E[V</a:t>
            </a:r>
            <a:pPr indent="0" marL="0">
              <a:spcAft>
                <a:spcPts val="700"/>
              </a:spcAft>
              <a:buNone/>
            </a:pPr>
            <a:r>
              <a:rPr lang="en-US" sz="1400" baseline="-40000" dirty="0">
                <a:solidFill>
                  <a:schemeClr val="tx1"/>
                </a:solidFill>
              </a:rPr>
              <a:t>t</a:t>
            </a:r>
            <a:pPr indent="0" marL="0">
              <a:spcAft>
                <a:spcPts val="700"/>
              </a:spcAft>
              <a:buNone/>
            </a:pPr>
            <a:r>
              <a:rPr lang="en-US" sz="1400" dirty="0">
                <a:solidFill>
                  <a:schemeClr val="tx1"/>
                </a:solidFill>
              </a:rPr>
              <a:t>] = ξ</a:t>
            </a:r>
            <a:endParaRPr lang="en-US" sz="1400" dirty="0"/>
          </a:p>
          <a:p>
            <a:pPr indent="0" marL="0">
              <a:spcAft>
                <a:spcPts val="700"/>
              </a:spcAft>
              <a:buNone/>
            </a:pPr>
            <a:r>
              <a:rPr lang="en-US" sz="1400" b="1" dirty="0">
                <a:solidFill>
                  <a:srgbClr val="D9622B"/>
                </a:solidFill>
              </a:rPr>
              <a:t>(a)  </a:t>
            </a:r>
            <a:pPr indent="0" marL="0">
              <a:spcAft>
                <a:spcPts val="700"/>
              </a:spcAft>
              <a:buNone/>
            </a:pPr>
            <a:r>
              <a:rPr lang="en-US" sz="1400" dirty="0">
                <a:solidFill>
                  <a:schemeClr val="tx1"/>
                </a:solidFill>
              </a:rPr>
              <a:t>a</a:t>
            </a:r>
            <a:pPr indent="0" marL="0">
              <a:spcAft>
                <a:spcPts val="700"/>
              </a:spcAft>
              <a:buNone/>
            </a:pPr>
            <a:r>
              <a:rPr lang="en-US" sz="1400" baseline="-40000" dirty="0">
                <a:solidFill>
                  <a:schemeClr val="tx1"/>
                </a:solidFill>
              </a:rPr>
              <a:t>H</a:t>
            </a:r>
            <a:pPr indent="0" marL="0">
              <a:spcAft>
                <a:spcPts val="700"/>
              </a:spcAft>
              <a:buNone/>
            </a:pPr>
            <a:r>
              <a:rPr lang="en-US" sz="1400" dirty="0">
                <a:solidFill>
                  <a:schemeClr val="tx1"/>
                </a:solidFill>
              </a:rPr>
              <a:t> is between 0 and 1, so √(1 − a</a:t>
            </a:r>
            <a:pPr indent="0" marL="0">
              <a:spcAft>
                <a:spcPts val="700"/>
              </a:spcAft>
              <a:buNone/>
            </a:pPr>
            <a:r>
              <a:rPr lang="en-US" sz="1400" baseline="-40000" dirty="0">
                <a:solidFill>
                  <a:schemeClr val="tx1"/>
                </a:solidFill>
              </a:rPr>
              <a:t>H</a:t>
            </a:r>
            <a:pPr indent="0" marL="0">
              <a:spcAft>
                <a:spcPts val="700"/>
              </a:spcAft>
              <a:buNone/>
            </a:pPr>
            <a:r>
              <a:rPr lang="en-US" sz="1400" baseline="30000" dirty="0">
                <a:solidFill>
                  <a:schemeClr val="tx1"/>
                </a:solidFill>
              </a:rPr>
              <a:t>2</a:t>
            </a:r>
            <a:pPr indent="0" marL="0">
              <a:spcAft>
                <a:spcPts val="700"/>
              </a:spcAft>
              <a:buNone/>
            </a:pPr>
            <a:r>
              <a:rPr lang="en-US" sz="1400" dirty="0">
                <a:solidFill>
                  <a:schemeClr val="tx1"/>
                </a:solidFill>
              </a:rPr>
              <a:t>) in the simulation is a real number</a:t>
            </a:r>
            <a:endParaRPr lang="en-US" sz="1400" dirty="0"/>
          </a:p>
          <a:p>
            <a:pPr indent="0" marL="0">
              <a:spcAft>
                <a:spcPts val="700"/>
              </a:spcAft>
              <a:buNone/>
            </a:pPr>
            <a:r>
              <a:rPr lang="en-US" sz="1400" b="1" dirty="0">
                <a:solidFill>
                  <a:srgbClr val="D9622B"/>
                </a:solidFill>
              </a:rPr>
              <a:t>(b)  </a:t>
            </a:r>
            <a:pPr indent="0" marL="0">
              <a:spcAft>
                <a:spcPts val="700"/>
              </a:spcAft>
              <a:buNone/>
            </a:pPr>
            <a:r>
              <a:rPr lang="en-US" sz="1400" dirty="0">
                <a:solidFill>
                  <a:schemeClr val="tx1"/>
                </a:solidFill>
              </a:rPr>
              <a:t>Y</a:t>
            </a:r>
            <a:pPr indent="0" marL="0">
              <a:spcAft>
                <a:spcPts val="700"/>
              </a:spcAft>
              <a:buNone/>
            </a:pPr>
            <a:r>
              <a:rPr lang="en-US" sz="1400" baseline="-40000" dirty="0">
                <a:solidFill>
                  <a:schemeClr val="tx1"/>
                </a:solidFill>
              </a:rPr>
              <a:t>j</a:t>
            </a:r>
            <a:pPr indent="0" marL="0">
              <a:spcAft>
                <a:spcPts val="700"/>
              </a:spcAft>
              <a:buNone/>
            </a:pPr>
            <a:r>
              <a:rPr lang="en-US" sz="1400" dirty="0">
                <a:solidFill>
                  <a:schemeClr val="tx1"/>
                </a:solidFill>
              </a:rPr>
              <a:t> is a sum of independent normal pieces, so its variance is q</a:t>
            </a:r>
            <a:pPr indent="0" marL="0">
              <a:spcAft>
                <a:spcPts val="700"/>
              </a:spcAft>
              <a:buNone/>
            </a:pPr>
            <a:r>
              <a:rPr lang="en-US" sz="1400" baseline="-40000" dirty="0">
                <a:solidFill>
                  <a:schemeClr val="tx1"/>
                </a:solidFill>
              </a:rPr>
              <a:t>j</a:t>
            </a:r>
            <a:pPr indent="0" marL="0">
              <a:spcAft>
                <a:spcPts val="700"/>
              </a:spcAft>
              <a:buNone/>
            </a:pPr>
            <a:r>
              <a:rPr lang="en-US" sz="1400" dirty="0">
                <a:solidFill>
                  <a:schemeClr val="tx1"/>
                </a:solidFill>
              </a:rPr>
              <a:t> = Δ</a:t>
            </a:r>
            <a:pPr indent="0" marL="0">
              <a:spcAft>
                <a:spcPts val="700"/>
              </a:spcAft>
              <a:buNone/>
            </a:pPr>
            <a:r>
              <a:rPr lang="en-US" sz="1400" baseline="30000" dirty="0">
                <a:solidFill>
                  <a:schemeClr val="tx1"/>
                </a:solidFill>
              </a:rPr>
              <a:t>2H</a:t>
            </a:r>
            <a:pPr indent="0" marL="0">
              <a:spcAft>
                <a:spcPts val="700"/>
              </a:spcAft>
              <a:buNone/>
            </a:pPr>
            <a:r>
              <a:rPr lang="en-US" sz="1400" dirty="0">
                <a:solidFill>
                  <a:schemeClr val="tx1"/>
                </a:solidFill>
              </a:rPr>
              <a:t> + Δ Σ w</a:t>
            </a:r>
            <a:pPr indent="0" marL="0">
              <a:spcAft>
                <a:spcPts val="700"/>
              </a:spcAft>
              <a:buNone/>
            </a:pPr>
            <a:r>
              <a:rPr lang="en-US" sz="1400" baseline="-40000" dirty="0">
                <a:solidFill>
                  <a:schemeClr val="tx1"/>
                </a:solidFill>
              </a:rPr>
              <a:t>k</a:t>
            </a:r>
            <a:pPr indent="0" marL="0">
              <a:spcAft>
                <a:spcPts val="700"/>
              </a:spcAft>
              <a:buNone/>
            </a:pPr>
            <a:r>
              <a:rPr lang="en-US" sz="1400" baseline="30000" dirty="0">
                <a:solidFill>
                  <a:schemeClr val="tx1"/>
                </a:solidFill>
              </a:rPr>
              <a:t>2</a:t>
            </a:r>
            <a:endParaRPr lang="en-US" sz="1400" dirty="0"/>
          </a:p>
        </p:txBody>
      </p:sp>
      <p:sp>
        <p:nvSpPr>
          <p:cNvPr id="4" name="q1ab card"/>
          <p:cNvSpPr/>
          <p:nvPr/>
        </p:nvSpPr>
        <p:spPr>
          <a:xfrm>
            <a:off x="5486400" y="1097280"/>
            <a:ext cx="3200400" cy="3474720"/>
          </a:xfrm>
          <a:prstGeom prst="roundRect">
            <a:avLst>
              <a:gd name="adj" fmla="val 2286"/>
            </a:avLst>
          </a:prstGeom>
          <a:solidFill>
            <a:schemeClr val="bg2"/>
          </a:solidFill>
          <a:ln w="12700">
            <a:solidFill>
              <a:schemeClr val="bg2"/>
            </a:solidFill>
            <a:prstDash val="solid"/>
          </a:ln>
        </p:spPr>
      </p:sp>
      <p:sp>
        <p:nvSpPr>
          <p:cNvPr id="5" name="q1ab card text"/>
          <p:cNvSpPr txBox="1"/>
          <p:nvPr/>
        </p:nvSpPr>
        <p:spPr>
          <a:xfrm>
            <a:off x="5669280" y="1234440"/>
            <a:ext cx="2834640" cy="3200400"/>
          </a:xfrm>
          <a:prstGeom prst="rect">
            <a:avLst/>
          </a:prstGeom>
          <a:noFill/>
          <a:ln/>
        </p:spPr>
        <p:txBody>
          <a:bodyPr wrap="square" rtlCol="0" anchor="t"/>
          <a:lstStyle/>
          <a:p>
            <a:pPr indent="0" marL="0">
              <a:spcAft>
                <a:spcPts val="1000"/>
              </a:spcAft>
              <a:buNone/>
            </a:pPr>
            <a:r>
              <a:rPr lang="en-US" sz="1500" b="1" dirty="0">
                <a:solidFill>
                  <a:schemeClr val="tx2"/>
                </a:solidFill>
              </a:rPr>
              <a:t>Normalization</a:t>
            </a:r>
            <a:endParaRPr lang="en-US" sz="1500" dirty="0"/>
          </a:p>
          <a:p>
            <a:pPr indent="0" marL="0">
              <a:spcAft>
                <a:spcPts val="1000"/>
              </a:spcAft>
              <a:buNone/>
            </a:pPr>
            <a:r>
              <a:rPr lang="en-US" sz="1700" dirty="0">
                <a:solidFill>
                  <a:schemeClr val="accent1"/>
                </a:solidFill>
              </a:rPr>
              <a:t>V</a:t>
            </a:r>
            <a:pPr indent="0" marL="0">
              <a:spcAft>
                <a:spcPts val="1000"/>
              </a:spcAft>
              <a:buNone/>
            </a:pPr>
            <a:r>
              <a:rPr lang="en-US" sz="1700" baseline="-40000" dirty="0">
                <a:solidFill>
                  <a:schemeClr val="accent1"/>
                </a:solidFill>
              </a:rPr>
              <a:t>j</a:t>
            </a:r>
            <a:pPr indent="0" marL="0">
              <a:spcAft>
                <a:spcPts val="1000"/>
              </a:spcAft>
              <a:buNone/>
            </a:pPr>
            <a:r>
              <a:rPr lang="en-US" sz="1700" dirty="0">
                <a:solidFill>
                  <a:schemeClr val="accent1"/>
                </a:solidFill>
              </a:rPr>
              <a:t> = ξ exp(η Y</a:t>
            </a:r>
            <a:pPr indent="0" marL="0">
              <a:spcAft>
                <a:spcPts val="1000"/>
              </a:spcAft>
              <a:buNone/>
            </a:pPr>
            <a:r>
              <a:rPr lang="en-US" sz="1700" baseline="-40000" dirty="0">
                <a:solidFill>
                  <a:schemeClr val="accent1"/>
                </a:solidFill>
              </a:rPr>
              <a:t>j</a:t>
            </a:r>
            <a:pPr indent="0" marL="0">
              <a:spcAft>
                <a:spcPts val="1000"/>
              </a:spcAft>
              <a:buNone/>
            </a:pPr>
            <a:r>
              <a:rPr lang="en-US" sz="1700" dirty="0">
                <a:solidFill>
                  <a:schemeClr val="accent1"/>
                </a:solidFill>
              </a:rPr>
              <a:t> − η</a:t>
            </a:r>
            <a:pPr indent="0" marL="0">
              <a:spcAft>
                <a:spcPts val="1000"/>
              </a:spcAft>
              <a:buNone/>
            </a:pPr>
            <a:r>
              <a:rPr lang="en-US" sz="1700" baseline="30000" dirty="0">
                <a:solidFill>
                  <a:schemeClr val="accent1"/>
                </a:solidFill>
              </a:rPr>
              <a:t>2</a:t>
            </a:r>
            <a:pPr indent="0" marL="0">
              <a:spcAft>
                <a:spcPts val="1000"/>
              </a:spcAft>
              <a:buNone/>
            </a:pPr>
            <a:r>
              <a:rPr lang="en-US" sz="1700" dirty="0">
                <a:solidFill>
                  <a:schemeClr val="accent1"/>
                </a:solidFill>
              </a:rPr>
              <a:t> q</a:t>
            </a:r>
            <a:pPr indent="0" marL="0">
              <a:spcAft>
                <a:spcPts val="1000"/>
              </a:spcAft>
              <a:buNone/>
            </a:pPr>
            <a:r>
              <a:rPr lang="en-US" sz="1700" baseline="-40000" dirty="0">
                <a:solidFill>
                  <a:schemeClr val="accent1"/>
                </a:solidFill>
              </a:rPr>
              <a:t>j</a:t>
            </a:r>
            <a:pPr indent="0" marL="0">
              <a:spcAft>
                <a:spcPts val="1000"/>
              </a:spcAft>
              <a:buNone/>
            </a:pPr>
            <a:r>
              <a:rPr lang="en-US" sz="1700" dirty="0">
                <a:solidFill>
                  <a:schemeClr val="accent1"/>
                </a:solidFill>
              </a:rPr>
              <a:t> / 2)</a:t>
            </a:r>
            <a:endParaRPr lang="en-US" sz="1500" dirty="0"/>
          </a:p>
          <a:p>
            <a:pPr indent="0" marL="0">
              <a:spcAft>
                <a:spcPts val="1000"/>
              </a:spcAft>
              <a:buNone/>
            </a:pPr>
            <a:r>
              <a:rPr lang="en-US" sz="1300" dirty="0">
                <a:solidFill>
                  <a:schemeClr val="tx1"/>
                </a:solidFill>
              </a:rPr>
              <a:t>Using q</a:t>
            </a:r>
            <a:pPr indent="0" marL="0">
              <a:spcAft>
                <a:spcPts val="1000"/>
              </a:spcAft>
              <a:buNone/>
            </a:pPr>
            <a:r>
              <a:rPr lang="en-US" sz="1300" baseline="-40000" dirty="0">
                <a:solidFill>
                  <a:schemeClr val="tx1"/>
                </a:solidFill>
              </a:rPr>
              <a:t>j</a:t>
            </a:r>
            <a:pPr indent="0" marL="0">
              <a:spcAft>
                <a:spcPts val="1000"/>
              </a:spcAft>
              <a:buNone/>
            </a:pPr>
            <a:r>
              <a:rPr lang="en-US" sz="1300" dirty="0">
                <a:solidFill>
                  <a:schemeClr val="tx1"/>
                </a:solidFill>
              </a:rPr>
              <a:t> (not t</a:t>
            </a:r>
            <a:pPr indent="0" marL="0">
              <a:spcAft>
                <a:spcPts val="1000"/>
              </a:spcAft>
              <a:buNone/>
            </a:pPr>
            <a:r>
              <a:rPr lang="en-US" sz="1300" baseline="-40000" dirty="0">
                <a:solidFill>
                  <a:schemeClr val="tx1"/>
                </a:solidFill>
              </a:rPr>
              <a:t>j</a:t>
            </a:r>
            <a:pPr indent="0" marL="0">
              <a:spcAft>
                <a:spcPts val="1000"/>
              </a:spcAft>
              <a:buNone/>
            </a:pPr>
            <a:r>
              <a:rPr lang="en-US" sz="1300" baseline="30000" dirty="0">
                <a:solidFill>
                  <a:schemeClr val="tx1"/>
                </a:solidFill>
              </a:rPr>
              <a:t>2H</a:t>
            </a:r>
            <a:pPr indent="0" marL="0">
              <a:spcAft>
                <a:spcPts val="1000"/>
              </a:spcAft>
              <a:buNone/>
            </a:pPr>
            <a:r>
              <a:rPr lang="en-US" sz="1300" dirty="0">
                <a:solidFill>
                  <a:schemeClr val="tx1"/>
                </a:solidFill>
              </a:rPr>
              <a:t>) makes E[V</a:t>
            </a:r>
            <a:pPr indent="0" marL="0">
              <a:spcAft>
                <a:spcPts val="1000"/>
              </a:spcAft>
              <a:buNone/>
            </a:pPr>
            <a:r>
              <a:rPr lang="en-US" sz="1300" baseline="-40000" dirty="0">
                <a:solidFill>
                  <a:schemeClr val="tx1"/>
                </a:solidFill>
              </a:rPr>
              <a:t>j</a:t>
            </a:r>
            <a:pPr indent="0" marL="0">
              <a:spcAft>
                <a:spcPts val="1000"/>
              </a:spcAft>
              <a:buNone/>
            </a:pPr>
            <a:r>
              <a:rPr lang="en-US" sz="1300" dirty="0">
                <a:solidFill>
                  <a:schemeClr val="tx1"/>
                </a:solidFill>
              </a:rPr>
              <a:t>] = ξ exactly on the grid.</a:t>
            </a:r>
            <a:endParaRPr lang="en-US" sz="1500" dirty="0"/>
          </a:p>
          <a:p>
            <a:pPr indent="0" marL="0">
              <a:spcAft>
                <a:spcPts val="1000"/>
              </a:spcAft>
              <a:buNone/>
            </a:pPr>
            <a:r>
              <a:rPr lang="en-US" sz="1300" dirty="0">
                <a:solidFill>
                  <a:schemeClr val="tx1"/>
                </a:solidFill>
              </a:rPr>
              <a:t>Because q</a:t>
            </a:r>
            <a:pPr indent="0" marL="0">
              <a:spcAft>
                <a:spcPts val="1000"/>
              </a:spcAft>
              <a:buNone/>
            </a:pPr>
            <a:r>
              <a:rPr lang="en-US" sz="1300" baseline="-40000" dirty="0">
                <a:solidFill>
                  <a:schemeClr val="tx1"/>
                </a:solidFill>
              </a:rPr>
              <a:t>j</a:t>
            </a:r>
            <a:pPr indent="0" marL="0">
              <a:spcAft>
                <a:spcPts val="1000"/>
              </a:spcAft>
              <a:buNone/>
            </a:pPr>
            <a:r>
              <a:rPr lang="en-US" sz="1300" dirty="0">
                <a:solidFill>
                  <a:schemeClr val="tx1"/>
                </a:solidFill>
              </a:rPr>
              <a:t> &lt; t</a:t>
            </a:r>
            <a:pPr indent="0" marL="0">
              <a:spcAft>
                <a:spcPts val="1000"/>
              </a:spcAft>
              <a:buNone/>
            </a:pPr>
            <a:r>
              <a:rPr lang="en-US" sz="1300" baseline="-40000" dirty="0">
                <a:solidFill>
                  <a:schemeClr val="tx1"/>
                </a:solidFill>
              </a:rPr>
              <a:t>j</a:t>
            </a:r>
            <a:pPr indent="0" marL="0">
              <a:spcAft>
                <a:spcPts val="1000"/>
              </a:spcAft>
              <a:buNone/>
            </a:pPr>
            <a:r>
              <a:rPr lang="en-US" sz="1300" baseline="30000" dirty="0">
                <a:solidFill>
                  <a:schemeClr val="tx1"/>
                </a:solidFill>
              </a:rPr>
              <a:t>2H</a:t>
            </a:r>
            <a:pPr indent="0" marL="0">
              <a:spcAft>
                <a:spcPts val="1000"/>
              </a:spcAft>
              <a:buNone/>
            </a:pPr>
            <a:r>
              <a:rPr lang="en-US" sz="1300" dirty="0">
                <a:solidFill>
                  <a:schemeClr val="tx1"/>
                </a:solidFill>
              </a:rPr>
              <a:t> for j ≥ 2, using t</a:t>
            </a:r>
            <a:pPr indent="0" marL="0">
              <a:spcAft>
                <a:spcPts val="1000"/>
              </a:spcAft>
              <a:buNone/>
            </a:pPr>
            <a:r>
              <a:rPr lang="en-US" sz="1300" baseline="-40000" dirty="0">
                <a:solidFill>
                  <a:schemeClr val="tx1"/>
                </a:solidFill>
              </a:rPr>
              <a:t>j</a:t>
            </a:r>
            <a:pPr indent="0" marL="0">
              <a:spcAft>
                <a:spcPts val="1000"/>
              </a:spcAft>
              <a:buNone/>
            </a:pPr>
            <a:r>
              <a:rPr lang="en-US" sz="1300" baseline="30000" dirty="0">
                <a:solidFill>
                  <a:schemeClr val="tx1"/>
                </a:solidFill>
              </a:rPr>
              <a:t>2H</a:t>
            </a:r>
            <a:pPr indent="0" marL="0">
              <a:spcAft>
                <a:spcPts val="1000"/>
              </a:spcAft>
              <a:buNone/>
            </a:pPr>
            <a:r>
              <a:rPr lang="en-US" sz="1300" dirty="0">
                <a:solidFill>
                  <a:schemeClr val="tx1"/>
                </a:solidFill>
              </a:rPr>
              <a:t> would push E[V</a:t>
            </a:r>
            <a:pPr indent="0" marL="0">
              <a:spcAft>
                <a:spcPts val="1000"/>
              </a:spcAft>
              <a:buNone/>
            </a:pPr>
            <a:r>
              <a:rPr lang="en-US" sz="1300" baseline="-40000" dirty="0">
                <a:solidFill>
                  <a:schemeClr val="tx1"/>
                </a:solidFill>
              </a:rPr>
              <a:t>j</a:t>
            </a:r>
            <a:pPr indent="0" marL="0">
              <a:spcAft>
                <a:spcPts val="1000"/>
              </a:spcAft>
              <a:buNone/>
            </a:pPr>
            <a:r>
              <a:rPr lang="en-US" sz="1300" dirty="0">
                <a:solidFill>
                  <a:schemeClr val="tx1"/>
                </a:solidFill>
              </a:rPr>
              <a:t>] slightly below ξ.</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Q1 (c)–(d): checking the simulator</a:t>
            </a:r>
            <a:endParaRPr lang="en-US" sz="2600" dirty="0"/>
          </a:p>
        </p:txBody>
      </p:sp>
      <p:graphicFrame>
        <p:nvGraphicFramePr>
          <p:cNvPr id="4" name="q1c table"/>
          <p:cNvGraphicFramePr>
            <a:graphicFrameLocks noGrp="1"/>
          </p:cNvGraphicFramePr>
          <p:nvPr>
            <p:extLst>
              <p:ext uri="{D42A27DB-BD31-4B8C-83A1-F6EECF244321}">
                <p14:modId xmlns:p14="http://schemas.microsoft.com/office/powerpoint/2010/main" val="1579011935"/>
              </p:ext>
            </p:extLst>
          </p:nvPr>
        </p:nvGraphicFramePr>
        <p:xfrm>
          <a:off x="457200" y="1097280"/>
          <a:ext cx="4480560" cy="914400"/>
        </p:xfrm>
        <a:graphic>
          <a:graphicData uri="http://schemas.openxmlformats.org/drawingml/2006/table">
            <a:tbl>
              <a:tblPr/>
              <a:tblGrid>
                <a:gridCol w="457200"/>
                <a:gridCol w="1463040"/>
                <a:gridCol w="1005840"/>
                <a:gridCol w="1554480"/>
              </a:tblGrid>
              <a:tr h="274320">
                <a:tc>
                  <a:txBody>
                    <a:bodyPr/>
                    <a:lstStyle/>
                    <a:p>
                      <a:pPr indent="0" marL="0">
                        <a:buNone/>
                      </a:pPr>
                      <a:r>
                        <a:rPr lang="en-US" sz="1200" b="1" dirty="0">
                          <a:solidFill>
                            <a:schemeClr val="tx2"/>
                          </a:solidFill>
                        </a:rPr>
                        <a:t>j</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mean of Y (SE)</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var(Y) / q</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mean of V (SE)</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solidFill>
                      <a:schemeClr val="bg2"/>
                    </a:solidFill>
                  </a:tcPr>
                </a:tc>
              </a:tr>
              <a:tr h="274320">
                <a:tc>
                  <a:txBody>
                    <a:bodyPr/>
                    <a:lstStyle/>
                    <a:p>
                      <a:pPr indent="0" marL="0">
                        <a:buNone/>
                      </a:pPr>
                      <a:r>
                        <a:rPr lang="en-US" sz="1200" dirty="0">
                          <a:solidFill>
                            <a:schemeClr val="tx1"/>
                          </a:solidFill>
                        </a:rPr>
                        <a:t>32</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0.0016 (0.0026)</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0.997</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0.0401 (0.0002)</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74320">
                <a:tc>
                  <a:txBody>
                    <a:bodyPr/>
                    <a:lstStyle/>
                    <a:p>
                      <a:pPr indent="0" marL="0">
                        <a:buNone/>
                      </a:pPr>
                      <a:r>
                        <a:rPr lang="en-US" sz="1200" dirty="0">
                          <a:solidFill>
                            <a:schemeClr val="tx1"/>
                          </a:solidFill>
                        </a:rPr>
                        <a:t>64</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0.0050 (0.0028)</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1.008</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0.0405 (0.0003)</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r h="274320">
                <a:tc>
                  <a:txBody>
                    <a:bodyPr/>
                    <a:lstStyle/>
                    <a:p>
                      <a:pPr indent="0" marL="0">
                        <a:buNone/>
                      </a:pPr>
                      <a:r>
                        <a:rPr lang="en-US" sz="1200" dirty="0">
                          <a:solidFill>
                            <a:schemeClr val="tx1"/>
                          </a:solidFill>
                        </a:rPr>
                        <a:t>128</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-0.0012 (0.0030)</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1.008</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c>
                  <a:txBody>
                    <a:bodyPr/>
                    <a:lstStyle/>
                    <a:p>
                      <a:pPr indent="0" marL="0">
                        <a:buNone/>
                      </a:pPr>
                      <a:r>
                        <a:rPr lang="en-US" sz="1200" dirty="0">
                          <a:solidFill>
                            <a:schemeClr val="tx1"/>
                          </a:solidFill>
                        </a:rPr>
                        <a:t>0.0405 (0.0003)</a:t>
                      </a:r>
                      <a:endParaRPr lang="en-US" sz="1200" dirty="0"/>
                    </a:p>
                  </a:txBody>
                  <a:tcPr marL="91440" marR="91440" marT="45720" marB="45720">
                    <a:lnL w="6350" cap="flat" cmpd="sng" algn="ctr">
                      <a:solidFill>
                        <a:srgbClr val="D5DBDF"/>
                      </a:solidFill>
                      <a:prstDash val="solid"/>
                      <a:round/>
                      <a:headEnd type="none" w="med" len="med"/>
                      <a:tailEnd type="none" w="med" len="med"/>
                    </a:lnL>
                    <a:lnR w="6350" cap="flat" cmpd="sng" algn="ctr">
                      <a:solidFill>
                        <a:srgbClr val="D5DBDF"/>
                      </a:solidFill>
                      <a:prstDash val="solid"/>
                      <a:round/>
                      <a:headEnd type="none" w="med" len="med"/>
                      <a:tailEnd type="none" w="med" len="med"/>
                    </a:lnR>
                    <a:lnT w="6350" cap="flat" cmpd="sng" algn="ctr">
                      <a:solidFill>
                        <a:srgbClr val="D5DBDF"/>
                      </a:solidFill>
                      <a:prstDash val="solid"/>
                      <a:round/>
                      <a:headEnd type="none" w="med" len="med"/>
                      <a:tailEnd type="none" w="med" len="med"/>
                    </a:lnT>
                    <a:lnB w="6350" cap="flat" cmpd="sng" algn="ctr">
                      <a:solidFill>
                        <a:srgbClr val="D5DBDF"/>
                      </a:solidFill>
                      <a:prstDash val="solid"/>
                      <a:round/>
                      <a:headEnd type="none" w="med" len="med"/>
                      <a:tailEnd type="none" w="med" len="med"/>
                    </a:lnB>
                  </a:tcPr>
                </a:tc>
              </a:tr>
            </a:tbl>
          </a:graphicData>
        </a:graphic>
      </p:graphicFrame>
      <p:sp>
        <p:nvSpPr>
          <p:cNvPr id="4" name="q1c note"/>
          <p:cNvSpPr txBox="1"/>
          <p:nvPr/>
        </p:nvSpPr>
        <p:spPr>
          <a:xfrm>
            <a:off x="457200" y="2286000"/>
            <a:ext cx="4480560" cy="457200"/>
          </a:xfrm>
          <a:prstGeom prst="rect">
            <a:avLst/>
          </a:prstGeom>
          <a:noFill/>
          <a:ln/>
        </p:spPr>
        <p:txBody>
          <a:bodyPr wrap="square" rtlCol="0" anchor="t"/>
          <a:lstStyle/>
          <a:p>
            <a:pPr indent="0" marL="0">
              <a:spcAft>
                <a:spcPts val="700"/>
              </a:spcAft>
              <a:buNone/>
            </a:pPr>
            <a:r>
              <a:rPr lang="en-US" sz="1200" dirty="0">
                <a:solidFill>
                  <a:schemeClr val="accent5"/>
                </a:solidFill>
              </a:rPr>
              <a:t>Targets: 0, 1, ξ = 0.04. 100,000 paths, n = 128. All within about 2 SE.</a:t>
            </a:r>
            <a:endParaRPr lang="en-US" sz="1200" dirty="0"/>
          </a:p>
        </p:txBody>
      </p:sp>
      <p:pic>
        <p:nvPicPr>
          <p:cNvPr id="5" name="variance paths figure" descr="/home/claude/rbergomi-vr/slides/variance_paths.png">    </p:cNvPr>
          <p:cNvPicPr>
            <a:picLocks noChangeAspect="1"/>
          </p:cNvPicPr>
          <p:nvPr/>
        </p:nvPicPr>
        <p:blipFill>
          <a:blip r:embed="rId1"/>
          <a:stretch>
            <a:fillRect/>
          </a:stretch>
        </p:blipFill>
        <p:spPr>
          <a:xfrm>
            <a:off x="5120640" y="1051560"/>
            <a:ext cx="3429000" cy="1234440"/>
          </a:xfrm>
          <a:prstGeom prst="rect">
            <a:avLst/>
          </a:prstGeom>
        </p:spPr>
      </p:pic>
      <p:sp>
        <p:nvSpPr>
          <p:cNvPr id="6" name="fig caption"/>
          <p:cNvSpPr txBox="1"/>
          <p:nvPr/>
        </p:nvSpPr>
        <p:spPr>
          <a:xfrm>
            <a:off x="5120640" y="2286000"/>
            <a:ext cx="3566160" cy="228600"/>
          </a:xfrm>
          <a:prstGeom prst="rect">
            <a:avLst/>
          </a:prstGeom>
          <a:noFill/>
          <a:ln/>
        </p:spPr>
        <p:txBody>
          <a:bodyPr wrap="square" rtlCol="0" anchor="t"/>
          <a:lstStyle/>
          <a:p>
            <a:pPr indent="0" marL="0">
              <a:spcAft>
                <a:spcPts val="700"/>
              </a:spcAft>
              <a:buNone/>
            </a:pPr>
            <a:r>
              <a:rPr lang="en-US" sz="1000" dirty="0">
                <a:solidFill>
                  <a:schemeClr val="accent5"/>
                </a:solidFill>
              </a:rPr>
              <a:t>Same inputs: H = 0.1 paths are much rougher than H = 0.4</a:t>
            </a:r>
            <a:endParaRPr lang="en-US" sz="1000" dirty="0"/>
          </a:p>
        </p:txBody>
      </p:sp>
      <p:sp>
        <p:nvSpPr>
          <p:cNvPr id="7" name="roughness why"/>
          <p:cNvSpPr txBox="1"/>
          <p:nvPr/>
        </p:nvSpPr>
        <p:spPr>
          <a:xfrm>
            <a:off x="5120640" y="2542032"/>
            <a:ext cx="3566160" cy="548640"/>
          </a:xfrm>
          <a:prstGeom prst="rect">
            <a:avLst/>
          </a:prstGeom>
          <a:noFill/>
          <a:ln/>
        </p:spPr>
        <p:txBody>
          <a:bodyPr wrap="square" rtlCol="0" anchor="t"/>
          <a:lstStyle/>
          <a:p>
            <a:pPr indent="0" marL="0">
              <a:spcAft>
                <a:spcPts val="700"/>
              </a:spcAft>
              <a:buNone/>
            </a:pPr>
            <a:r>
              <a:rPr lang="en-US" sz="1050" dirty="0">
                <a:solidFill>
                  <a:schemeClr val="tx1"/>
                </a:solidFill>
              </a:rPr>
              <a:t>Why: in Y</a:t>
            </a:r>
            <a:pPr indent="0" marL="0">
              <a:spcAft>
                <a:spcPts val="700"/>
              </a:spcAft>
              <a:buNone/>
            </a:pPr>
            <a:r>
              <a:rPr lang="en-US" sz="1050" baseline="-40000" dirty="0">
                <a:solidFill>
                  <a:schemeClr val="tx1"/>
                </a:solidFill>
              </a:rPr>
              <a:t>t</a:t>
            </a:r>
            <a:pPr indent="0" marL="0">
              <a:spcAft>
                <a:spcPts val="700"/>
              </a:spcAft>
              <a:buNone/>
            </a:pPr>
            <a:r>
              <a:rPr lang="en-US" sz="1050" dirty="0">
                <a:solidFill>
                  <a:schemeClr val="tx1"/>
                </a:solidFill>
              </a:rPr>
              <a:t> = √(2H) ∫ (t − s)</a:t>
            </a:r>
            <a:pPr indent="0" marL="0">
              <a:spcAft>
                <a:spcPts val="700"/>
              </a:spcAft>
              <a:buNone/>
            </a:pPr>
            <a:r>
              <a:rPr lang="en-US" sz="1050" baseline="30000" dirty="0">
                <a:solidFill>
                  <a:schemeClr val="tx1"/>
                </a:solidFill>
              </a:rPr>
              <a:t>H−1/2</a:t>
            </a:r>
            <a:pPr indent="0" marL="0">
              <a:spcAft>
                <a:spcPts val="700"/>
              </a:spcAft>
              <a:buNone/>
            </a:pPr>
            <a:r>
              <a:rPr lang="en-US" sz="1050" dirty="0">
                <a:solidFill>
                  <a:schemeClr val="tx1"/>
                </a:solidFill>
              </a:rPr>
              <a:t> dW</a:t>
            </a:r>
            <a:pPr indent="0" marL="0">
              <a:spcAft>
                <a:spcPts val="700"/>
              </a:spcAft>
              <a:buNone/>
            </a:pPr>
            <a:r>
              <a:rPr lang="en-US" sz="1050" baseline="-40000" dirty="0">
                <a:solidFill>
                  <a:schemeClr val="tx1"/>
                </a:solidFill>
              </a:rPr>
              <a:t>s</a:t>
            </a:r>
            <a:pPr indent="0" marL="0">
              <a:spcAft>
                <a:spcPts val="700"/>
              </a:spcAft>
              <a:buNone/>
            </a:pPr>
            <a:r>
              <a:rPr lang="en-US" sz="1050" dirty="0">
                <a:solidFill>
                  <a:schemeClr val="tx1"/>
                </a:solidFill>
              </a:rPr>
              <a:t> the weight on recent shocks (s near t) blows up when H &lt; 1/2, so Y moves about Δ</a:t>
            </a:r>
            <a:pPr indent="0" marL="0">
              <a:spcAft>
                <a:spcPts val="700"/>
              </a:spcAft>
              <a:buNone/>
            </a:pPr>
            <a:r>
              <a:rPr lang="en-US" sz="1050" baseline="30000" dirty="0">
                <a:solidFill>
                  <a:schemeClr val="tx1"/>
                </a:solidFill>
              </a:rPr>
              <a:t>H</a:t>
            </a:r>
            <a:pPr indent="0" marL="0">
              <a:spcAft>
                <a:spcPts val="700"/>
              </a:spcAft>
              <a:buNone/>
            </a:pPr>
            <a:r>
              <a:rPr lang="en-US" sz="1050" dirty="0">
                <a:solidFill>
                  <a:schemeClr val="tx1"/>
                </a:solidFill>
              </a:rPr>
              <a:t> per step, far more than √Δ</a:t>
            </a:r>
            <a:endParaRPr lang="en-US" sz="1050" dirty="0"/>
          </a:p>
        </p:txBody>
      </p:sp>
      <p:sp>
        <p:nvSpPr>
          <p:cNvPr id="8" name="q1d card"/>
          <p:cNvSpPr/>
          <p:nvPr/>
        </p:nvSpPr>
        <p:spPr>
          <a:xfrm>
            <a:off x="457200" y="3246120"/>
            <a:ext cx="8229600" cy="1417320"/>
          </a:xfrm>
          <a:prstGeom prst="roundRect">
            <a:avLst>
              <a:gd name="adj" fmla="val 5161"/>
            </a:avLst>
          </a:prstGeom>
          <a:solidFill>
            <a:schemeClr val="bg2"/>
          </a:solidFill>
          <a:ln w="12700">
            <a:solidFill>
              <a:schemeClr val="bg2"/>
            </a:solidFill>
            <a:prstDash val="solid"/>
          </a:ln>
        </p:spPr>
      </p:sp>
      <p:sp>
        <p:nvSpPr>
          <p:cNvPr id="9" name="q1d text"/>
          <p:cNvSpPr txBox="1"/>
          <p:nvPr/>
        </p:nvSpPr>
        <p:spPr>
          <a:xfrm>
            <a:off x="640080" y="3310128"/>
            <a:ext cx="7863840" cy="1325880"/>
          </a:xfrm>
          <a:prstGeom prst="rect">
            <a:avLst/>
          </a:prstGeom>
          <a:noFill/>
          <a:ln/>
        </p:spPr>
        <p:txBody>
          <a:bodyPr wrap="square" rtlCol="0" anchor="t"/>
          <a:lstStyle/>
          <a:p>
            <a:pPr indent="0" marL="0">
              <a:spcAft>
                <a:spcPts val="400"/>
              </a:spcAft>
              <a:buNone/>
            </a:pPr>
            <a:r>
              <a:rPr lang="en-US" sz="1200" b="1" dirty="0">
                <a:solidFill>
                  <a:srgbClr val="D9622B"/>
                </a:solidFill>
              </a:rPr>
              <a:t>(d) η = 0:  </a:t>
            </a:r>
            <a:pPr indent="0" marL="0">
              <a:spcAft>
                <a:spcPts val="400"/>
              </a:spcAft>
              <a:buNone/>
            </a:pPr>
            <a:r>
              <a:rPr lang="en-US" sz="1200" dirty="0">
                <a:solidFill>
                  <a:schemeClr val="tx1"/>
                </a:solidFill>
              </a:rPr>
              <a:t>variance is constant ξ, so log S</a:t>
            </a:r>
            <a:pPr indent="0" marL="0">
              <a:spcAft>
                <a:spcPts val="400"/>
              </a:spcAft>
              <a:buNone/>
            </a:pPr>
            <a:r>
              <a:rPr lang="en-US" sz="1200" baseline="-40000" dirty="0">
                <a:solidFill>
                  <a:schemeClr val="tx1"/>
                </a:solidFill>
              </a:rPr>
              <a:t>n</a:t>
            </a:r>
            <a:pPr indent="0" marL="0">
              <a:spcAft>
                <a:spcPts val="400"/>
              </a:spcAft>
              <a:buNone/>
            </a:pPr>
            <a:r>
              <a:rPr lang="en-US" sz="1200" dirty="0">
                <a:solidFill>
                  <a:schemeClr val="tx1"/>
                </a:solidFill>
              </a:rPr>
              <a:t> is exactly normal, i.e. Black–Scholes, for any n</a:t>
            </a:r>
            <a:endParaRPr lang="en-US" sz="1200" dirty="0"/>
          </a:p>
          <a:p>
            <a:pPr indent="0" marL="0">
              <a:spcAft>
                <a:spcPts val="400"/>
              </a:spcAft>
              <a:buNone/>
            </a:pPr>
            <a:r>
              <a:rPr lang="en-US" sz="1200" b="1" dirty="0">
                <a:solidFill>
                  <a:srgbClr val="D9622B"/>
                </a:solidFill>
              </a:rPr>
              <a:t>Check:  </a:t>
            </a:r>
            <a:pPr indent="0" marL="0">
              <a:spcAft>
                <a:spcPts val="400"/>
              </a:spcAft>
              <a:buNone/>
            </a:pPr>
            <a:r>
              <a:rPr lang="en-US" sz="1200" dirty="0">
                <a:solidFill>
                  <a:schemeClr val="tx1"/>
                </a:solidFill>
              </a:rPr>
              <a:t>simulated put prices at n = 1, 8, 128 match (6) within about 2 SE</a:t>
            </a:r>
            <a:endParaRPr lang="en-US" sz="1200" dirty="0"/>
          </a:p>
          <a:p>
            <a:pPr indent="0" marL="0">
              <a:spcAft>
                <a:spcPts val="400"/>
              </a:spcAft>
              <a:buNone/>
            </a:pPr>
            <a:r>
              <a:rPr lang="en-US" sz="1200" b="1" dirty="0">
                <a:solidFill>
                  <a:srgbClr val="D9622B"/>
                </a:solidFill>
              </a:rPr>
              <a:t>Would catch:  </a:t>
            </a:r>
            <a:pPr indent="0" marL="0">
              <a:spcAft>
                <a:spcPts val="400"/>
              </a:spcAft>
              <a:buNone/>
            </a:pPr>
            <a:r>
              <a:rPr lang="en-US" sz="1200" dirty="0">
                <a:solidFill>
                  <a:schemeClr val="tx1"/>
                </a:solidFill>
              </a:rPr>
              <a:t>same normals for ΔW and ΔB. Correct step variance ρ</a:t>
            </a:r>
            <a:pPr indent="0" marL="0">
              <a:spcAft>
                <a:spcPts val="400"/>
              </a:spcAft>
              <a:buNone/>
            </a:pPr>
            <a:r>
              <a:rPr lang="en-US" sz="1200" baseline="30000" dirty="0">
                <a:solidFill>
                  <a:schemeClr val="tx1"/>
                </a:solidFill>
              </a:rPr>
              <a:t>2</a:t>
            </a:r>
            <a:pPr indent="0" marL="0">
              <a:spcAft>
                <a:spcPts val="400"/>
              </a:spcAft>
              <a:buNone/>
            </a:pPr>
            <a:r>
              <a:rPr lang="en-US" sz="1200" dirty="0">
                <a:solidFill>
                  <a:schemeClr val="tx1"/>
                </a:solidFill>
              </a:rPr>
              <a:t>Δ + (1−ρ</a:t>
            </a:r>
            <a:pPr indent="0" marL="0">
              <a:spcAft>
                <a:spcPts val="400"/>
              </a:spcAft>
              <a:buNone/>
            </a:pPr>
            <a:r>
              <a:rPr lang="en-US" sz="1200" baseline="30000" dirty="0">
                <a:solidFill>
                  <a:schemeClr val="tx1"/>
                </a:solidFill>
              </a:rPr>
              <a:t>2</a:t>
            </a:r>
            <a:pPr indent="0" marL="0">
              <a:spcAft>
                <a:spcPts val="400"/>
              </a:spcAft>
              <a:buNone/>
            </a:pPr>
            <a:r>
              <a:rPr lang="en-US" sz="1200" dirty="0">
                <a:solidFill>
                  <a:schemeClr val="tx1"/>
                </a:solidFill>
              </a:rPr>
              <a:t>)Δ = Δ; with the bug (ρ + √(1−ρ</a:t>
            </a:r>
            <a:pPr indent="0" marL="0">
              <a:spcAft>
                <a:spcPts val="400"/>
              </a:spcAft>
              <a:buNone/>
            </a:pPr>
            <a:r>
              <a:rPr lang="en-US" sz="1200" baseline="30000" dirty="0">
                <a:solidFill>
                  <a:schemeClr val="tx1"/>
                </a:solidFill>
              </a:rPr>
              <a:t>2</a:t>
            </a:r>
            <a:pPr indent="0" marL="0">
              <a:spcAft>
                <a:spcPts val="400"/>
              </a:spcAft>
              <a:buNone/>
            </a:pPr>
            <a:r>
              <a:rPr lang="en-US" sz="1200" dirty="0">
                <a:solidFill>
                  <a:schemeClr val="tx1"/>
                </a:solidFill>
              </a:rPr>
              <a:t>))</a:t>
            </a:r>
            <a:pPr indent="0" marL="0">
              <a:spcAft>
                <a:spcPts val="400"/>
              </a:spcAft>
              <a:buNone/>
            </a:pPr>
            <a:r>
              <a:rPr lang="en-US" sz="1200" baseline="30000" dirty="0">
                <a:solidFill>
                  <a:schemeClr val="tx1"/>
                </a:solidFill>
              </a:rPr>
              <a:t>2</a:t>
            </a:r>
            <a:pPr indent="0" marL="0">
              <a:spcAft>
                <a:spcPts val="400"/>
              </a:spcAft>
              <a:buNone/>
            </a:pPr>
            <a:r>
              <a:rPr lang="en-US" sz="1200" dirty="0">
                <a:solidFill>
                  <a:schemeClr val="tx1"/>
                </a:solidFill>
              </a:rPr>
              <a:t>Δ ≈ 0.0002Δ, so the stock barely moves and the K = 100 put is ≈ 1.0 instead of 5.64</a:t>
            </a:r>
            <a:endParaRPr lang="en-US" sz="1200" dirty="0"/>
          </a:p>
          <a:p>
            <a:pPr indent="0" marL="0">
              <a:spcAft>
                <a:spcPts val="400"/>
              </a:spcAft>
              <a:buNone/>
            </a:pPr>
            <a:r>
              <a:rPr lang="en-US" sz="1200" b="1" dirty="0">
                <a:solidFill>
                  <a:srgbClr val="D9622B"/>
                </a:solidFill>
              </a:rPr>
              <a:t>Would miss:  </a:t>
            </a:r>
            <a:pPr indent="0" marL="0">
              <a:spcAft>
                <a:spcPts val="400"/>
              </a:spcAft>
              <a:buNone/>
            </a:pPr>
            <a:r>
              <a:rPr lang="en-US" sz="1200" dirty="0">
                <a:solidFill>
                  <a:schemeClr val="tx1"/>
                </a:solidFill>
              </a:rPr>
              <a:t>look-ahead (using V</a:t>
            </a:r>
            <a:pPr indent="0" marL="0">
              <a:spcAft>
                <a:spcPts val="400"/>
              </a:spcAft>
              <a:buNone/>
            </a:pPr>
            <a:r>
              <a:rPr lang="en-US" sz="1200" baseline="-40000" dirty="0">
                <a:solidFill>
                  <a:schemeClr val="tx1"/>
                </a:solidFill>
              </a:rPr>
              <a:t>j+1</a:t>
            </a:r>
            <a:pPr indent="0" marL="0">
              <a:spcAft>
                <a:spcPts val="400"/>
              </a:spcAft>
              <a:buNone/>
            </a:pPr>
            <a:r>
              <a:rPr lang="en-US" sz="1200" dirty="0">
                <a:solidFill>
                  <a:schemeClr val="tx1"/>
                </a:solidFill>
              </a:rPr>
              <a:t> in the stock step), since V is constant at η = 0</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Q2: Black–Scholes control variate</a:t>
            </a:r>
            <a:endParaRPr lang="en-US" sz="2600" dirty="0"/>
          </a:p>
        </p:txBody>
      </p:sp>
      <p:sp>
        <p:nvSpPr>
          <p:cNvPr id="3" name="q2 bullets"/>
          <p:cNvSpPr txBox="1"/>
          <p:nvPr/>
        </p:nvSpPr>
        <p:spPr>
          <a:xfrm>
            <a:off x="457200" y="1097280"/>
            <a:ext cx="5120640" cy="3474720"/>
          </a:xfrm>
          <a:prstGeom prst="rect">
            <a:avLst/>
          </a:prstGeom>
          <a:noFill/>
          <a:ln/>
        </p:spPr>
        <p:txBody>
          <a:bodyPr wrap="square" rtlCol="0" anchor="t"/>
          <a:lstStyle/>
          <a:p>
            <a:pPr indent="0" marL="0">
              <a:spcAft>
                <a:spcPts val="700"/>
              </a:spcAft>
              <a:buNone/>
            </a:pPr>
            <a:r>
              <a:rPr lang="en-US" sz="1300" b="1" dirty="0">
                <a:solidFill>
                  <a:srgbClr val="D9622B"/>
                </a:solidFill>
              </a:rPr>
              <a:t>(a)  </a:t>
            </a:r>
            <a:pPr indent="0" marL="0">
              <a:spcAft>
                <a:spcPts val="700"/>
              </a:spcAft>
              <a:buNone/>
            </a:pPr>
            <a:r>
              <a:rPr lang="en-US" sz="1300" dirty="0">
                <a:solidFill>
                  <a:schemeClr val="tx1"/>
                </a:solidFill>
              </a:rPr>
              <a:t>Control: a Black–Scholes stock with constant variance ξ, built from the same ΔW, ΔB. Its put price c</a:t>
            </a:r>
            <a:pPr indent="0" marL="0">
              <a:spcAft>
                <a:spcPts val="700"/>
              </a:spcAft>
              <a:buNone/>
            </a:pPr>
            <a:r>
              <a:rPr lang="en-US" sz="1300" baseline="-40000" dirty="0">
                <a:solidFill>
                  <a:schemeClr val="tx1"/>
                </a:solidFill>
              </a:rPr>
              <a:t>K</a:t>
            </a:r>
            <a:pPr indent="0" marL="0">
              <a:spcAft>
                <a:spcPts val="700"/>
              </a:spcAft>
              <a:buNone/>
            </a:pPr>
            <a:r>
              <a:rPr lang="en-US" sz="1300" dirty="0">
                <a:solidFill>
                  <a:schemeClr val="tx1"/>
                </a:solidFill>
              </a:rPr>
              <a:t> = BS</a:t>
            </a:r>
            <a:pPr indent="0" marL="0">
              <a:spcAft>
                <a:spcPts val="700"/>
              </a:spcAft>
              <a:buNone/>
            </a:pPr>
            <a:r>
              <a:rPr lang="en-US" sz="1300" baseline="-40000" dirty="0">
                <a:solidFill>
                  <a:schemeClr val="tx1"/>
                </a:solidFill>
              </a:rPr>
              <a:t>put</a:t>
            </a:r>
            <a:pPr indent="0" marL="0">
              <a:spcAft>
                <a:spcPts val="700"/>
              </a:spcAft>
              <a:buNone/>
            </a:pPr>
            <a:r>
              <a:rPr lang="en-US" sz="1300" dirty="0">
                <a:solidFill>
                  <a:schemeClr val="tx1"/>
                </a:solidFill>
              </a:rPr>
              <a:t>(S</a:t>
            </a:r>
            <a:pPr indent="0" marL="0">
              <a:spcAft>
                <a:spcPts val="700"/>
              </a:spcAft>
              <a:buNone/>
            </a:pPr>
            <a:r>
              <a:rPr lang="en-US" sz="1300" baseline="-40000" dirty="0">
                <a:solidFill>
                  <a:schemeClr val="tx1"/>
                </a:solidFill>
              </a:rPr>
              <a:t>0</a:t>
            </a:r>
            <a:pPr indent="0" marL="0">
              <a:spcAft>
                <a:spcPts val="700"/>
              </a:spcAft>
              <a:buNone/>
            </a:pPr>
            <a:r>
              <a:rPr lang="en-US" sz="1300" dirty="0">
                <a:solidFill>
                  <a:schemeClr val="tx1"/>
                </a:solidFill>
              </a:rPr>
              <a:t>, K, ξT) is known</a:t>
            </a:r>
            <a:endParaRPr lang="en-US" sz="1300" dirty="0"/>
          </a:p>
          <a:p>
            <a:pPr indent="0" marL="0">
              <a:spcAft>
                <a:spcPts val="700"/>
              </a:spcAft>
              <a:buNone/>
            </a:pPr>
            <a:r>
              <a:rPr lang="en-US" sz="1300" b="1" dirty="0">
                <a:solidFill>
                  <a:srgbClr val="D9622B"/>
                </a:solidFill>
              </a:rPr>
              <a:t>(a)  </a:t>
            </a:r>
            <a:pPr indent="0" marL="0">
              <a:spcAft>
                <a:spcPts val="700"/>
              </a:spcAft>
              <a:buNone/>
            </a:pPr>
            <a:r>
              <a:rPr lang="en-US" sz="1300" dirty="0">
                <a:solidFill>
                  <a:schemeClr val="tx1"/>
                </a:solidFill>
              </a:rPr>
              <a:t>Adjusted payoff R = X − β(C − c</a:t>
            </a:r>
            <a:pPr indent="0" marL="0">
              <a:spcAft>
                <a:spcPts val="700"/>
              </a:spcAft>
              <a:buNone/>
            </a:pPr>
            <a:r>
              <a:rPr lang="en-US" sz="1300" baseline="-40000" dirty="0">
                <a:solidFill>
                  <a:schemeClr val="tx1"/>
                </a:solidFill>
              </a:rPr>
              <a:t>K</a:t>
            </a:r>
            <a:pPr indent="0" marL="0">
              <a:spcAft>
                <a:spcPts val="700"/>
              </a:spcAft>
              <a:buNone/>
            </a:pPr>
            <a:r>
              <a:rPr lang="en-US" sz="1300" dirty="0">
                <a:solidFill>
                  <a:schemeClr val="tx1"/>
                </a:solidFill>
              </a:rPr>
              <a:t>) is unbiased for any fixed β</a:t>
            </a:r>
            <a:endParaRPr lang="en-US" sz="1300" dirty="0"/>
          </a:p>
          <a:p>
            <a:pPr indent="0" marL="0">
              <a:spcAft>
                <a:spcPts val="700"/>
              </a:spcAft>
              <a:buNone/>
            </a:pPr>
            <a:r>
              <a:rPr lang="en-US" sz="1300" b="1" dirty="0">
                <a:solidFill>
                  <a:srgbClr val="D9622B"/>
                </a:solidFill>
              </a:rPr>
              <a:t>(a)  </a:t>
            </a:r>
            <a:pPr indent="0" marL="0">
              <a:spcAft>
                <a:spcPts val="700"/>
              </a:spcAft>
              <a:buNone/>
            </a:pPr>
            <a:r>
              <a:rPr lang="en-US" sz="1300" dirty="0">
                <a:solidFill>
                  <a:schemeClr val="tx1"/>
                </a:solidFill>
              </a:rPr>
              <a:t>Best β* = Cov(X, C) / Var(C)</a:t>
            </a:r>
            <a:endParaRPr lang="en-US" sz="1300" dirty="0"/>
          </a:p>
          <a:p>
            <a:pPr indent="0" marL="0">
              <a:spcAft>
                <a:spcPts val="700"/>
              </a:spcAft>
              <a:buNone/>
            </a:pPr>
            <a:r>
              <a:rPr lang="en-US" sz="1300" b="1" dirty="0">
                <a:solidFill>
                  <a:srgbClr val="D9622B"/>
                </a:solidFill>
              </a:rPr>
              <a:t>(a)  </a:t>
            </a:r>
            <a:pPr indent="0" marL="0">
              <a:spcAft>
                <a:spcPts val="700"/>
              </a:spcAft>
              <a:buNone/>
            </a:pPr>
            <a:r>
              <a:rPr lang="en-US" sz="1300" dirty="0">
                <a:solidFill>
                  <a:schemeClr val="tx1"/>
                </a:solidFill>
              </a:rPr>
              <a:t>Minimum variance: Var(R*) = Var(X) · (1 − Corr(X, C)</a:t>
            </a:r>
            <a:pPr indent="0" marL="0">
              <a:spcAft>
                <a:spcPts val="700"/>
              </a:spcAft>
              <a:buNone/>
            </a:pPr>
            <a:r>
              <a:rPr lang="en-US" sz="1300" baseline="30000" dirty="0">
                <a:solidFill>
                  <a:schemeClr val="tx1"/>
                </a:solidFill>
              </a:rPr>
              <a:t>2</a:t>
            </a:r>
            <a:pPr indent="0" marL="0">
              <a:spcAft>
                <a:spcPts val="700"/>
              </a:spcAft>
              <a:buNone/>
            </a:pPr>
            <a:r>
              <a:rPr lang="en-US" sz="1300" dirty="0">
                <a:solidFill>
                  <a:schemeClr val="tx1"/>
                </a:solidFill>
              </a:rPr>
              <a:t>)</a:t>
            </a:r>
            <a:endParaRPr lang="en-US" sz="1300" dirty="0"/>
          </a:p>
          <a:p>
            <a:pPr indent="0" marL="0">
              <a:spcAft>
                <a:spcPts val="700"/>
              </a:spcAft>
              <a:buNone/>
            </a:pPr>
            <a:r>
              <a:rPr lang="en-US" sz="1300" b="1" dirty="0">
                <a:solidFill>
                  <a:srgbClr val="D9622B"/>
                </a:solidFill>
              </a:rPr>
              <a:t>(a)  </a:t>
            </a:r>
            <a:pPr indent="0" marL="0">
              <a:spcAft>
                <a:spcPts val="700"/>
              </a:spcAft>
              <a:buNone/>
            </a:pPr>
            <a:r>
              <a:rPr lang="en-US" sz="1300" dirty="0">
                <a:solidFill>
                  <a:schemeClr val="tx1"/>
                </a:solidFill>
              </a:rPr>
              <a:t>An independent control stock has zero correlation, so it cannot help</a:t>
            </a:r>
            <a:endParaRPr lang="en-US" sz="1300" dirty="0"/>
          </a:p>
          <a:p>
            <a:pPr indent="0" marL="0">
              <a:spcAft>
                <a:spcPts val="700"/>
              </a:spcAft>
              <a:buNone/>
            </a:pPr>
            <a:r>
              <a:rPr lang="en-US" sz="1300" b="1" dirty="0">
                <a:solidFill>
                  <a:srgbClr val="D9622B"/>
                </a:solidFill>
              </a:rPr>
              <a:t>(b)  </a:t>
            </a:r>
            <a:pPr indent="0" marL="0">
              <a:spcAft>
                <a:spcPts val="700"/>
              </a:spcAft>
              <a:buNone/>
            </a:pPr>
            <a:r>
              <a:rPr lang="en-US" sz="1300" dirty="0">
                <a:solidFill>
                  <a:schemeClr val="tx1"/>
                </a:solidFill>
              </a:rPr>
              <a:t>β estimated per strike on a separate pilot (10,000 paths), then frozen: stays unbiased. If the pilot Var(C) = 0, β = 0 (falls back to plain MC)</a:t>
            </a:r>
            <a:endParaRPr lang="en-US" sz="1300" dirty="0"/>
          </a:p>
          <a:p>
            <a:pPr indent="0" marL="0">
              <a:spcAft>
                <a:spcPts val="700"/>
              </a:spcAft>
              <a:buNone/>
            </a:pPr>
            <a:r>
              <a:rPr lang="en-US" sz="1300" b="1" dirty="0">
                <a:solidFill>
                  <a:srgbClr val="D9622B"/>
                </a:solidFill>
              </a:rPr>
              <a:t>(b)  </a:t>
            </a:r>
            <a:pPr indent="0" marL="0">
              <a:spcAft>
                <a:spcPts val="700"/>
              </a:spcAft>
              <a:buNone/>
            </a:pPr>
            <a:r>
              <a:rPr lang="en-US" sz="1300" dirty="0">
                <a:solidFill>
                  <a:schemeClr val="tx1"/>
                </a:solidFill>
              </a:rPr>
              <a:t>Fitting β on the production paths needs care: β then depends on the same C</a:t>
            </a:r>
            <a:pPr indent="0" marL="0">
              <a:spcAft>
                <a:spcPts val="700"/>
              </a:spcAft>
              <a:buNone/>
            </a:pPr>
            <a:r>
              <a:rPr lang="en-US" sz="1300" baseline="-40000" dirty="0">
                <a:solidFill>
                  <a:schemeClr val="tx1"/>
                </a:solidFill>
              </a:rPr>
              <a:t>i</a:t>
            </a:r>
            <a:pPr indent="0" marL="0">
              <a:spcAft>
                <a:spcPts val="700"/>
              </a:spcAft>
              <a:buNone/>
            </a:pPr>
            <a:r>
              <a:rPr lang="en-US" sz="1300" dirty="0">
                <a:solidFill>
                  <a:schemeClr val="tx1"/>
                </a:solidFill>
              </a:rPr>
              <a:t> it multiplies, so E[β(C̄ − c</a:t>
            </a:r>
            <a:pPr indent="0" marL="0">
              <a:spcAft>
                <a:spcPts val="700"/>
              </a:spcAft>
              <a:buNone/>
            </a:pPr>
            <a:r>
              <a:rPr lang="en-US" sz="1300" baseline="-40000" dirty="0">
                <a:solidFill>
                  <a:schemeClr val="tx1"/>
                </a:solidFill>
              </a:rPr>
              <a:t>K</a:t>
            </a:r>
            <a:pPr indent="0" marL="0">
              <a:spcAft>
                <a:spcPts val="700"/>
              </a:spcAft>
              <a:buNone/>
            </a:pPr>
            <a:r>
              <a:rPr lang="en-US" sz="1300" dirty="0">
                <a:solidFill>
                  <a:schemeClr val="tx1"/>
                </a:solidFill>
              </a:rPr>
              <a:t>)] ≠ 0 (small bias), and the R</a:t>
            </a:r>
            <a:pPr indent="0" marL="0">
              <a:spcAft>
                <a:spcPts val="700"/>
              </a:spcAft>
              <a:buNone/>
            </a:pPr>
            <a:r>
              <a:rPr lang="en-US" sz="1300" baseline="-40000" dirty="0">
                <a:solidFill>
                  <a:schemeClr val="tx1"/>
                </a:solidFill>
              </a:rPr>
              <a:t>i</a:t>
            </a:r>
            <a:pPr indent="0" marL="0">
              <a:spcAft>
                <a:spcPts val="700"/>
              </a:spcAft>
              <a:buNone/>
            </a:pPr>
            <a:r>
              <a:rPr lang="en-US" sz="1300" dirty="0">
                <a:solidFill>
                  <a:schemeClr val="tx1"/>
                </a:solidFill>
              </a:rPr>
              <a:t> are no longer independent</a:t>
            </a:r>
            <a:endParaRPr lang="en-US" sz="1300" dirty="0"/>
          </a:p>
        </p:txBody>
      </p:sp>
      <p:sp>
        <p:nvSpPr>
          <p:cNvPr id="4" name="q2 card"/>
          <p:cNvSpPr/>
          <p:nvPr/>
        </p:nvSpPr>
        <p:spPr>
          <a:xfrm>
            <a:off x="5852160" y="1097280"/>
            <a:ext cx="2834640" cy="3474720"/>
          </a:xfrm>
          <a:prstGeom prst="roundRect">
            <a:avLst>
              <a:gd name="adj" fmla="val 2581"/>
            </a:avLst>
          </a:prstGeom>
          <a:solidFill>
            <a:schemeClr val="bg2"/>
          </a:solidFill>
          <a:ln w="12700">
            <a:solidFill>
              <a:schemeClr val="bg2"/>
            </a:solidFill>
            <a:prstDash val="solid"/>
          </a:ln>
        </p:spPr>
      </p:sp>
      <p:sp>
        <p:nvSpPr>
          <p:cNvPr id="5" name="q2 card text"/>
          <p:cNvSpPr txBox="1"/>
          <p:nvPr/>
        </p:nvSpPr>
        <p:spPr>
          <a:xfrm>
            <a:off x="5989320" y="1234440"/>
            <a:ext cx="2560320" cy="3200400"/>
          </a:xfrm>
          <a:prstGeom prst="rect">
            <a:avLst/>
          </a:prstGeom>
          <a:noFill/>
          <a:ln/>
        </p:spPr>
        <p:txBody>
          <a:bodyPr wrap="square" rtlCol="0" anchor="t"/>
          <a:lstStyle/>
          <a:p>
            <a:pPr indent="0" marL="0">
              <a:spcAft>
                <a:spcPts val="800"/>
              </a:spcAft>
              <a:buNone/>
            </a:pPr>
            <a:r>
              <a:rPr lang="en-US" sz="1400" b="1" dirty="0">
                <a:solidFill>
                  <a:schemeClr val="tx2"/>
                </a:solidFill>
              </a:rPr>
              <a:t>Check (c): η = 0, β = 1</a:t>
            </a:r>
            <a:endParaRPr lang="en-US" sz="1400" dirty="0"/>
          </a:p>
          <a:p>
            <a:pPr indent="0" marL="0">
              <a:spcAft>
                <a:spcPts val="800"/>
              </a:spcAft>
              <a:buNone/>
            </a:pPr>
            <a:r>
              <a:rPr lang="en-US" sz="1300" dirty="0">
                <a:solidFill>
                  <a:schemeClr val="tx1"/>
                </a:solidFill>
              </a:rPr>
              <a:t>max |R − c</a:t>
            </a:r>
            <a:pPr indent="0" marL="0">
              <a:spcAft>
                <a:spcPts val="800"/>
              </a:spcAft>
              <a:buNone/>
            </a:pPr>
            <a:r>
              <a:rPr lang="en-US" sz="1300" baseline="-40000" dirty="0">
                <a:solidFill>
                  <a:schemeClr val="tx1"/>
                </a:solidFill>
              </a:rPr>
              <a:t>K</a:t>
            </a:r>
            <a:pPr indent="0" marL="0">
              <a:spcAft>
                <a:spcPts val="800"/>
              </a:spcAft>
              <a:buNone/>
            </a:pPr>
            <a:r>
              <a:rPr lang="en-US" sz="1300" dirty="0">
                <a:solidFill>
                  <a:schemeClr val="tx1"/>
                </a:solidFill>
              </a:rPr>
              <a:t>|</a:t>
            </a:r>
            <a:endParaRPr lang="en-US" sz="1400" dirty="0"/>
          </a:p>
          <a:p>
            <a:pPr indent="0" marL="0">
              <a:spcAft>
                <a:spcPts val="800"/>
              </a:spcAft>
              <a:buNone/>
            </a:pPr>
            <a:r>
              <a:rPr lang="en-US" sz="3200" b="1" dirty="0">
                <a:solidFill>
                  <a:schemeClr val="accent1"/>
                </a:solidFill>
              </a:rPr>
              <a:t>1e-13</a:t>
            </a:r>
            <a:endParaRPr lang="en-US" sz="1400" dirty="0"/>
          </a:p>
          <a:p>
            <a:pPr indent="0" marL="0">
              <a:spcAft>
                <a:spcPts val="800"/>
              </a:spcAft>
              <a:buNone/>
            </a:pPr>
            <a:r>
              <a:rPr lang="en-US" sz="1200" dirty="0">
                <a:solidFill>
                  <a:schemeClr val="tx1"/>
                </a:solidFill>
              </a:rPr>
              <a:t>At η = 0 the model stock and the control are the same path, so R equals c</a:t>
            </a:r>
            <a:pPr indent="0" marL="0">
              <a:spcAft>
                <a:spcPts val="800"/>
              </a:spcAft>
              <a:buNone/>
            </a:pPr>
            <a:r>
              <a:rPr lang="en-US" sz="1200" baseline="-40000" dirty="0">
                <a:solidFill>
                  <a:schemeClr val="tx1"/>
                </a:solidFill>
              </a:rPr>
              <a:t>K</a:t>
            </a:r>
            <a:pPr indent="0" marL="0">
              <a:spcAft>
                <a:spcPts val="800"/>
              </a:spcAft>
              <a:buNone/>
            </a:pPr>
            <a:r>
              <a:rPr lang="en-US" sz="1200" dirty="0">
                <a:solidFill>
                  <a:schemeClr val="tx1"/>
                </a:solidFill>
              </a:rPr>
              <a:t> on every path (up to roundoff).</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Q3: antithetic sampling</a:t>
            </a:r>
            <a:endParaRPr lang="en-US" sz="2600" dirty="0"/>
          </a:p>
        </p:txBody>
      </p:sp>
      <p:sp>
        <p:nvSpPr>
          <p:cNvPr id="3" name="q3 bullets"/>
          <p:cNvSpPr txBox="1"/>
          <p:nvPr/>
        </p:nvSpPr>
        <p:spPr>
          <a:xfrm>
            <a:off x="457200" y="1097280"/>
            <a:ext cx="5120640" cy="3474720"/>
          </a:xfrm>
          <a:prstGeom prst="rect">
            <a:avLst/>
          </a:prstGeom>
          <a:noFill/>
          <a:ln/>
        </p:spPr>
        <p:txBody>
          <a:bodyPr wrap="square" rtlCol="0" anchor="t"/>
          <a:lstStyle/>
          <a:p>
            <a:pPr indent="0" marL="0">
              <a:spcAft>
                <a:spcPts val="700"/>
              </a:spcAft>
              <a:buNone/>
            </a:pPr>
            <a:r>
              <a:rPr lang="en-US" sz="1300" b="1" dirty="0">
                <a:solidFill>
                  <a:srgbClr val="D9622B"/>
                </a:solidFill>
              </a:rPr>
              <a:t>(a)  </a:t>
            </a:r>
            <a:pPr indent="0" marL="0">
              <a:spcAft>
                <a:spcPts val="700"/>
              </a:spcAft>
              <a:buNone/>
            </a:pPr>
            <a:r>
              <a:rPr lang="en-US" sz="1300" dirty="0">
                <a:solidFill>
                  <a:schemeClr val="tx1"/>
                </a:solidFill>
              </a:rPr>
              <a:t>Pair: inputs Z = (G, U, D) and −Z. Both paths have the correct law; the variance paths are ξ exp(±η Y</a:t>
            </a:r>
            <a:pPr indent="0" marL="0">
              <a:spcAft>
                <a:spcPts val="700"/>
              </a:spcAft>
              <a:buNone/>
            </a:pPr>
            <a:r>
              <a:rPr lang="en-US" sz="1300" baseline="-40000" dirty="0">
                <a:solidFill>
                  <a:schemeClr val="tx1"/>
                </a:solidFill>
              </a:rPr>
              <a:t>j</a:t>
            </a:r>
            <a:pPr indent="0" marL="0">
              <a:spcAft>
                <a:spcPts val="700"/>
              </a:spcAft>
              <a:buNone/>
            </a:pPr>
            <a:r>
              <a:rPr lang="en-US" sz="1300" dirty="0">
                <a:solidFill>
                  <a:schemeClr val="tx1"/>
                </a:solidFill>
              </a:rPr>
              <a:t> − η</a:t>
            </a:r>
            <a:pPr indent="0" marL="0">
              <a:spcAft>
                <a:spcPts val="700"/>
              </a:spcAft>
              <a:buNone/>
            </a:pPr>
            <a:r>
              <a:rPr lang="en-US" sz="1300" baseline="30000" dirty="0">
                <a:solidFill>
                  <a:schemeClr val="tx1"/>
                </a:solidFill>
              </a:rPr>
              <a:t>2</a:t>
            </a:r>
            <a:pPr indent="0" marL="0">
              <a:spcAft>
                <a:spcPts val="700"/>
              </a:spcAft>
              <a:buNone/>
            </a:pPr>
            <a:r>
              <a:rPr lang="en-US" sz="1300" dirty="0">
                <a:solidFill>
                  <a:schemeClr val="tx1"/>
                </a:solidFill>
              </a:rPr>
              <a:t> q</a:t>
            </a:r>
            <a:pPr indent="0" marL="0">
              <a:spcAft>
                <a:spcPts val="700"/>
              </a:spcAft>
              <a:buNone/>
            </a:pPr>
            <a:r>
              <a:rPr lang="en-US" sz="1300" baseline="-40000" dirty="0">
                <a:solidFill>
                  <a:schemeClr val="tx1"/>
                </a:solidFill>
              </a:rPr>
              <a:t>j</a:t>
            </a:r>
            <a:pPr indent="0" marL="0">
              <a:spcAft>
                <a:spcPts val="700"/>
              </a:spcAft>
              <a:buNone/>
            </a:pPr>
            <a:r>
              <a:rPr lang="en-US" sz="1300" dirty="0">
                <a:solidFill>
                  <a:schemeClr val="tx1"/>
                </a:solidFill>
              </a:rPr>
              <a:t> / 2)</a:t>
            </a:r>
            <a:endParaRPr lang="en-US" sz="1300" dirty="0"/>
          </a:p>
          <a:p>
            <a:pPr indent="0" marL="0">
              <a:spcAft>
                <a:spcPts val="700"/>
              </a:spcAft>
              <a:buNone/>
            </a:pPr>
            <a:r>
              <a:rPr lang="en-US" sz="1300" b="1" dirty="0">
                <a:solidFill>
                  <a:srgbClr val="D9622B"/>
                </a:solidFill>
              </a:rPr>
              <a:t>(a)  </a:t>
            </a:r>
            <a:pPr indent="0" marL="0">
              <a:spcAft>
                <a:spcPts val="700"/>
              </a:spcAft>
              <a:buNone/>
            </a:pPr>
            <a:r>
              <a:rPr lang="en-US" sz="1300" dirty="0">
                <a:solidFill>
                  <a:schemeClr val="tx1"/>
                </a:solidFill>
              </a:rPr>
              <a:t>Flipping only the stock returns but keeping the same variance path is wrong: it reverses the price–volatility correlation (ρ = −0.7 becomes +0.7), so the path no longer follows the model</a:t>
            </a:r>
            <a:endParaRPr lang="en-US" sz="1300" dirty="0"/>
          </a:p>
          <a:p>
            <a:pPr indent="0" marL="0">
              <a:spcAft>
                <a:spcPts val="700"/>
              </a:spcAft>
              <a:buNone/>
            </a:pPr>
            <a:r>
              <a:rPr lang="en-US" sz="1300" b="1" dirty="0">
                <a:solidFill>
                  <a:srgbClr val="D9622B"/>
                </a:solidFill>
              </a:rPr>
              <a:t>(b)  </a:t>
            </a:r>
            <a:pPr indent="0" marL="0">
              <a:spcAft>
                <a:spcPts val="700"/>
              </a:spcAft>
              <a:buNone/>
            </a:pPr>
            <a:r>
              <a:rPr lang="en-US" sz="1300" dirty="0">
                <a:solidFill>
                  <a:schemeClr val="tx1"/>
                </a:solidFill>
              </a:rPr>
              <a:t>Is full reflection guaranteed to reduce variance in this model? No: the payoff is not monotone in the inputs, so the pair correlation could be positive</a:t>
            </a:r>
            <a:endParaRPr lang="en-US" sz="1300" dirty="0"/>
          </a:p>
          <a:p>
            <a:pPr indent="0" marL="0">
              <a:spcAft>
                <a:spcPts val="700"/>
              </a:spcAft>
              <a:buNone/>
            </a:pPr>
            <a:r>
              <a:rPr lang="en-US" sz="1300" b="1" dirty="0">
                <a:solidFill>
                  <a:srgbClr val="D9622B"/>
                </a:solidFill>
              </a:rPr>
              <a:t>(c)  </a:t>
            </a:r>
            <a:pPr indent="0" marL="0">
              <a:spcAft>
                <a:spcPts val="700"/>
              </a:spcAft>
              <a:buNone/>
            </a:pPr>
            <a:r>
              <a:rPr lang="en-US" sz="1300" dirty="0">
                <a:solidFill>
                  <a:schemeClr val="tx1"/>
                </a:solidFill>
              </a:rPr>
              <a:t>SE uses the M pair averages. Treating the 2M payoffs as independent is off by the factor √(1 + corr)</a:t>
            </a:r>
            <a:endParaRPr lang="en-US" sz="1300" dirty="0"/>
          </a:p>
        </p:txBody>
      </p:sp>
      <p:sp>
        <p:nvSpPr>
          <p:cNvPr id="4" name="q3 card"/>
          <p:cNvSpPr/>
          <p:nvPr/>
        </p:nvSpPr>
        <p:spPr>
          <a:xfrm>
            <a:off x="5852160" y="1097280"/>
            <a:ext cx="2834640" cy="3474720"/>
          </a:xfrm>
          <a:prstGeom prst="roundRect">
            <a:avLst>
              <a:gd name="adj" fmla="val 2581"/>
            </a:avLst>
          </a:prstGeom>
          <a:solidFill>
            <a:schemeClr val="bg2"/>
          </a:solidFill>
          <a:ln w="12700">
            <a:solidFill>
              <a:schemeClr val="bg2"/>
            </a:solidFill>
            <a:prstDash val="solid"/>
          </a:ln>
        </p:spPr>
      </p:sp>
      <p:sp>
        <p:nvSpPr>
          <p:cNvPr id="5" name="q3 card text"/>
          <p:cNvSpPr txBox="1"/>
          <p:nvPr/>
        </p:nvSpPr>
        <p:spPr>
          <a:xfrm>
            <a:off x="5989320" y="1234440"/>
            <a:ext cx="2560320" cy="3200400"/>
          </a:xfrm>
          <a:prstGeom prst="rect">
            <a:avLst/>
          </a:prstGeom>
          <a:noFill/>
          <a:ln/>
        </p:spPr>
        <p:txBody>
          <a:bodyPr wrap="square" rtlCol="0" anchor="t"/>
          <a:lstStyle/>
          <a:p>
            <a:pPr indent="0" marL="0">
              <a:spcAft>
                <a:spcPts val="800"/>
              </a:spcAft>
              <a:buNone/>
            </a:pPr>
            <a:r>
              <a:rPr lang="en-US" sz="1400" b="1" dirty="0">
                <a:solidFill>
                  <a:schemeClr val="tx2"/>
                </a:solidFill>
              </a:rPr>
              <a:t>Key formula (b)</a:t>
            </a:r>
            <a:endParaRPr lang="en-US" sz="1400" dirty="0"/>
          </a:p>
          <a:p>
            <a:pPr indent="0" marL="0">
              <a:spcAft>
                <a:spcPts val="800"/>
              </a:spcAft>
              <a:buNone/>
            </a:pPr>
            <a:r>
              <a:rPr lang="en-US" sz="1300" dirty="0">
                <a:solidFill>
                  <a:schemeClr val="tx1"/>
                </a:solidFill>
              </a:rPr>
              <a:t>Var(AV, M pairs)</a:t>
            </a:r>
            <a:endParaRPr lang="en-US" sz="1400" dirty="0"/>
          </a:p>
          <a:p>
            <a:pPr indent="0" marL="0">
              <a:spcAft>
                <a:spcPts val="800"/>
              </a:spcAft>
              <a:buNone/>
            </a:pPr>
            <a:r>
              <a:rPr lang="en-US" sz="1300" dirty="0">
                <a:solidFill>
                  <a:schemeClr val="tx1"/>
                </a:solidFill>
              </a:rPr>
              <a:t>÷ Var(plain, 2M paths)</a:t>
            </a:r>
            <a:endParaRPr lang="en-US" sz="1400" dirty="0"/>
          </a:p>
          <a:p>
            <a:pPr indent="0" marL="0">
              <a:spcAft>
                <a:spcPts val="800"/>
              </a:spcAft>
              <a:buNone/>
            </a:pPr>
            <a:r>
              <a:rPr lang="en-US" sz="2000" b="1" dirty="0">
                <a:solidFill>
                  <a:schemeClr val="accent1"/>
                </a:solidFill>
              </a:rPr>
              <a:t>= 1 + Corr(X</a:t>
            </a:r>
            <a:pPr indent="0" marL="0">
              <a:spcAft>
                <a:spcPts val="800"/>
              </a:spcAft>
              <a:buNone/>
            </a:pPr>
            <a:r>
              <a:rPr lang="en-US" sz="2000" b="1" baseline="30000" dirty="0">
                <a:solidFill>
                  <a:schemeClr val="accent1"/>
                </a:solidFill>
              </a:rPr>
              <a:t>+</a:t>
            </a:r>
            <a:pPr indent="0" marL="0">
              <a:spcAft>
                <a:spcPts val="800"/>
              </a:spcAft>
              <a:buNone/>
            </a:pPr>
            <a:r>
              <a:rPr lang="en-US" sz="2000" b="1" dirty="0">
                <a:solidFill>
                  <a:schemeClr val="accent1"/>
                </a:solidFill>
              </a:rPr>
              <a:t>, X</a:t>
            </a:r>
            <a:pPr indent="0" marL="0">
              <a:spcAft>
                <a:spcPts val="800"/>
              </a:spcAft>
              <a:buNone/>
            </a:pPr>
            <a:r>
              <a:rPr lang="en-US" sz="2000" b="1" baseline="30000" dirty="0">
                <a:solidFill>
                  <a:schemeClr val="accent1"/>
                </a:solidFill>
              </a:rPr>
              <a:t>−</a:t>
            </a:r>
            <a:pPr indent="0" marL="0">
              <a:spcAft>
                <a:spcPts val="800"/>
              </a:spcAft>
              <a:buNone/>
            </a:pPr>
            <a:r>
              <a:rPr lang="en-US" sz="2000" b="1" dirty="0">
                <a:solidFill>
                  <a:schemeClr val="accent1"/>
                </a:solidFill>
              </a:rPr>
              <a:t>)</a:t>
            </a:r>
            <a:endParaRPr lang="en-US" sz="1400" dirty="0"/>
          </a:p>
          <a:p>
            <a:pPr indent="0" marL="0">
              <a:spcAft>
                <a:spcPts val="800"/>
              </a:spcAft>
              <a:buNone/>
            </a:pPr>
            <a:r>
              <a:rPr lang="en-US" sz="1200" dirty="0">
                <a:solidFill>
                  <a:schemeClr val="tx1"/>
                </a:solidFill>
              </a:rPr>
              <a:t>Helps only when the two members of a pair move in opposite directions (negative correlation).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Q4: combining both methods</a:t>
            </a:r>
            <a:endParaRPr lang="en-US" sz="2600" dirty="0"/>
          </a:p>
        </p:txBody>
      </p:sp>
      <p:sp>
        <p:nvSpPr>
          <p:cNvPr id="3" name="q4 bullets"/>
          <p:cNvSpPr txBox="1"/>
          <p:nvPr/>
        </p:nvSpPr>
        <p:spPr>
          <a:xfrm>
            <a:off x="457200" y="1097280"/>
            <a:ext cx="5120640" cy="3474720"/>
          </a:xfrm>
          <a:prstGeom prst="rect">
            <a:avLst/>
          </a:prstGeom>
          <a:noFill/>
          <a:ln/>
        </p:spPr>
        <p:txBody>
          <a:bodyPr wrap="square" rtlCol="0" anchor="t"/>
          <a:lstStyle/>
          <a:p>
            <a:pPr indent="0" marL="0">
              <a:spcAft>
                <a:spcPts val="700"/>
              </a:spcAft>
              <a:buNone/>
            </a:pPr>
            <a:r>
              <a:rPr lang="en-US" sz="1400" b="1" dirty="0">
                <a:solidFill>
                  <a:srgbClr val="D9622B"/>
                </a:solidFill>
              </a:rPr>
              <a:t>(a)  </a:t>
            </a:r>
            <a:pPr indent="0" marL="0">
              <a:spcAft>
                <a:spcPts val="700"/>
              </a:spcAft>
              <a:buNone/>
            </a:pPr>
            <a:r>
              <a:rPr lang="en-US" sz="1400" dirty="0">
                <a:solidFill>
                  <a:schemeClr val="tx1"/>
                </a:solidFill>
              </a:rPr>
              <a:t>Apply the control to each pair: R</a:t>
            </a:r>
            <a:pPr indent="0" marL="0">
              <a:spcAft>
                <a:spcPts val="700"/>
              </a:spcAft>
              <a:buNone/>
            </a:pPr>
            <a:r>
              <a:rPr lang="en-US" sz="1400" baseline="-40000" dirty="0">
                <a:solidFill>
                  <a:schemeClr val="tx1"/>
                </a:solidFill>
              </a:rPr>
              <a:t>pair</a:t>
            </a:r>
            <a:pPr indent="0" marL="0">
              <a:spcAft>
                <a:spcPts val="700"/>
              </a:spcAft>
              <a:buNone/>
            </a:pPr>
            <a:r>
              <a:rPr lang="en-US" sz="1400" dirty="0">
                <a:solidFill>
                  <a:schemeClr val="tx1"/>
                </a:solidFill>
              </a:rPr>
              <a:t> = A − γ(C</a:t>
            </a:r>
            <a:pPr indent="0" marL="0">
              <a:spcAft>
                <a:spcPts val="700"/>
              </a:spcAft>
              <a:buNone/>
            </a:pPr>
            <a:r>
              <a:rPr lang="en-US" sz="1400" baseline="-40000" dirty="0">
                <a:solidFill>
                  <a:schemeClr val="tx1"/>
                </a:solidFill>
              </a:rPr>
              <a:t>A</a:t>
            </a:r>
            <a:pPr indent="0" marL="0">
              <a:spcAft>
                <a:spcPts val="700"/>
              </a:spcAft>
              <a:buNone/>
            </a:pPr>
            <a:r>
              <a:rPr lang="en-US" sz="1400" dirty="0">
                <a:solidFill>
                  <a:schemeClr val="tx1"/>
                </a:solidFill>
              </a:rPr>
              <a:t> − c</a:t>
            </a:r>
            <a:pPr indent="0" marL="0">
              <a:spcAft>
                <a:spcPts val="700"/>
              </a:spcAft>
              <a:buNone/>
            </a:pPr>
            <a:r>
              <a:rPr lang="en-US" sz="1400" baseline="-40000" dirty="0">
                <a:solidFill>
                  <a:schemeClr val="tx1"/>
                </a:solidFill>
              </a:rPr>
              <a:t>K</a:t>
            </a:r>
            <a:pPr indent="0" marL="0">
              <a:spcAft>
                <a:spcPts val="700"/>
              </a:spcAft>
              <a:buNone/>
            </a:pPr>
            <a:r>
              <a:rPr lang="en-US" sz="1400" dirty="0">
                <a:solidFill>
                  <a:schemeClr val="tx1"/>
                </a:solidFill>
              </a:rPr>
              <a:t>), where A and C</a:t>
            </a:r>
            <a:pPr indent="0" marL="0">
              <a:spcAft>
                <a:spcPts val="700"/>
              </a:spcAft>
              <a:buNone/>
            </a:pPr>
            <a:r>
              <a:rPr lang="en-US" sz="1400" baseline="-40000" dirty="0">
                <a:solidFill>
                  <a:schemeClr val="tx1"/>
                </a:solidFill>
              </a:rPr>
              <a:t>A</a:t>
            </a:r>
            <a:pPr indent="0" marL="0">
              <a:spcAft>
                <a:spcPts val="700"/>
              </a:spcAft>
              <a:buNone/>
            </a:pPr>
            <a:r>
              <a:rPr lang="en-US" sz="1400" dirty="0">
                <a:solidFill>
                  <a:schemeClr val="tx1"/>
                </a:solidFill>
              </a:rPr>
              <a:t> are pair averages</a:t>
            </a:r>
            <a:endParaRPr lang="en-US" sz="1400" dirty="0"/>
          </a:p>
          <a:p>
            <a:pPr indent="0" marL="0">
              <a:spcAft>
                <a:spcPts val="700"/>
              </a:spcAft>
              <a:buNone/>
            </a:pPr>
            <a:r>
              <a:rPr lang="en-US" sz="1400" b="1" dirty="0">
                <a:solidFill>
                  <a:srgbClr val="D9622B"/>
                </a:solidFill>
              </a:rPr>
              <a:t>(a)  </a:t>
            </a:r>
            <a:pPr indent="0" marL="0">
              <a:spcAft>
                <a:spcPts val="700"/>
              </a:spcAft>
              <a:buNone/>
            </a:pPr>
            <a:r>
              <a:rPr lang="en-US" sz="1400" dirty="0">
                <a:solidFill>
                  <a:schemeClr val="tx1"/>
                </a:solidFill>
              </a:rPr>
              <a:t>Best γ = Cov(A, C</a:t>
            </a:r>
            <a:pPr indent="0" marL="0">
              <a:spcAft>
                <a:spcPts val="700"/>
              </a:spcAft>
              <a:buNone/>
            </a:pPr>
            <a:r>
              <a:rPr lang="en-US" sz="1400" baseline="-40000" dirty="0">
                <a:solidFill>
                  <a:schemeClr val="tx1"/>
                </a:solidFill>
              </a:rPr>
              <a:t>A</a:t>
            </a:r>
            <a:pPr indent="0" marL="0">
              <a:spcAft>
                <a:spcPts val="700"/>
              </a:spcAft>
              <a:buNone/>
            </a:pPr>
            <a:r>
              <a:rPr lang="en-US" sz="1400" dirty="0">
                <a:solidFill>
                  <a:schemeClr val="tx1"/>
                </a:solidFill>
              </a:rPr>
              <a:t>) / Var(C</a:t>
            </a:r>
            <a:pPr indent="0" marL="0">
              <a:spcAft>
                <a:spcPts val="700"/>
              </a:spcAft>
              <a:buNone/>
            </a:pPr>
            <a:r>
              <a:rPr lang="en-US" sz="1400" baseline="-40000" dirty="0">
                <a:solidFill>
                  <a:schemeClr val="tx1"/>
                </a:solidFill>
              </a:rPr>
              <a:t>A</a:t>
            </a:r>
            <a:pPr indent="0" marL="0">
              <a:spcAft>
                <a:spcPts val="700"/>
              </a:spcAft>
              <a:buNone/>
            </a:pPr>
            <a:r>
              <a:rPr lang="en-US" sz="1400" dirty="0">
                <a:solidFill>
                  <a:schemeClr val="tx1"/>
                </a:solidFill>
              </a:rPr>
              <a:t>). It differs from β: pairing already removes part of the noise, so the control fits what is left</a:t>
            </a:r>
            <a:endParaRPr lang="en-US" sz="1400" dirty="0"/>
          </a:p>
          <a:p>
            <a:pPr indent="0" marL="0">
              <a:spcAft>
                <a:spcPts val="700"/>
              </a:spcAft>
              <a:buNone/>
            </a:pPr>
            <a:r>
              <a:rPr lang="en-US" sz="1400" b="1" dirty="0">
                <a:solidFill>
                  <a:srgbClr val="D9622B"/>
                </a:solidFill>
              </a:rPr>
              <a:t>(b)  </a:t>
            </a:r>
            <a:pPr indent="0" marL="0">
              <a:spcAft>
                <a:spcPts val="700"/>
              </a:spcAft>
              <a:buNone/>
            </a:pPr>
            <a:r>
              <a:rPr lang="en-US" sz="1400" dirty="0">
                <a:solidFill>
                  <a:schemeClr val="tx1"/>
                </a:solidFill>
              </a:rPr>
              <a:t>γ estimated on a separate pilot of 5,000 pairs, then frozen: unbiased because E[C</a:t>
            </a:r>
            <a:pPr indent="0" marL="0">
              <a:spcAft>
                <a:spcPts val="700"/>
              </a:spcAft>
              <a:buNone/>
            </a:pPr>
            <a:r>
              <a:rPr lang="en-US" sz="1400" baseline="-40000" dirty="0">
                <a:solidFill>
                  <a:schemeClr val="tx1"/>
                </a:solidFill>
              </a:rPr>
              <a:t>A</a:t>
            </a:r>
            <a:pPr indent="0" marL="0">
              <a:spcAft>
                <a:spcPts val="700"/>
              </a:spcAft>
              <a:buNone/>
            </a:pPr>
            <a:r>
              <a:rPr lang="en-US" sz="1400" dirty="0">
                <a:solidFill>
                  <a:schemeClr val="tx1"/>
                </a:solidFill>
              </a:rPr>
              <a:t>] = c</a:t>
            </a:r>
            <a:pPr indent="0" marL="0">
              <a:spcAft>
                <a:spcPts val="700"/>
              </a:spcAft>
              <a:buNone/>
            </a:pPr>
            <a:r>
              <a:rPr lang="en-US" sz="1400" baseline="-40000" dirty="0">
                <a:solidFill>
                  <a:schemeClr val="tx1"/>
                </a:solidFill>
              </a:rPr>
              <a:t>K</a:t>
            </a:r>
            <a:endParaRPr lang="en-US" sz="1400" dirty="0"/>
          </a:p>
          <a:p>
            <a:pPr indent="0" marL="0">
              <a:spcAft>
                <a:spcPts val="700"/>
              </a:spcAft>
              <a:buNone/>
            </a:pPr>
            <a:r>
              <a:rPr lang="en-US" sz="1400" b="1" dirty="0">
                <a:solidFill>
                  <a:srgbClr val="D9622B"/>
                </a:solidFill>
              </a:rPr>
              <a:t>(b)  </a:t>
            </a:r>
            <a:pPr indent="0" marL="0">
              <a:spcAft>
                <a:spcPts val="700"/>
              </a:spcAft>
              <a:buNone/>
            </a:pPr>
            <a:r>
              <a:rPr lang="en-US" sz="1400" dirty="0">
                <a:solidFill>
                  <a:schemeClr val="tx1"/>
                </a:solidFill>
              </a:rPr>
              <a:t>SE from the M production values of R</a:t>
            </a:r>
            <a:pPr indent="0" marL="0">
              <a:spcAft>
                <a:spcPts val="700"/>
              </a:spcAft>
              <a:buNone/>
            </a:pPr>
            <a:r>
              <a:rPr lang="en-US" sz="1400" baseline="-40000" dirty="0">
                <a:solidFill>
                  <a:schemeClr val="tx1"/>
                </a:solidFill>
              </a:rPr>
              <a:t>pair</a:t>
            </a:r>
            <a:endParaRPr lang="en-US" sz="1400" dirty="0"/>
          </a:p>
        </p:txBody>
      </p:sp>
      <p:sp>
        <p:nvSpPr>
          <p:cNvPr id="4" name="q4 card"/>
          <p:cNvSpPr/>
          <p:nvPr/>
        </p:nvSpPr>
        <p:spPr>
          <a:xfrm>
            <a:off x="5852160" y="1097280"/>
            <a:ext cx="2834640" cy="3474720"/>
          </a:xfrm>
          <a:prstGeom prst="roundRect">
            <a:avLst>
              <a:gd name="adj" fmla="val 2581"/>
            </a:avLst>
          </a:prstGeom>
          <a:solidFill>
            <a:schemeClr val="bg2"/>
          </a:solidFill>
          <a:ln w="12700">
            <a:solidFill>
              <a:schemeClr val="bg2"/>
            </a:solidFill>
            <a:prstDash val="solid"/>
          </a:ln>
        </p:spPr>
      </p:sp>
      <p:sp>
        <p:nvSpPr>
          <p:cNvPr id="5" name="q4 card text"/>
          <p:cNvSpPr txBox="1"/>
          <p:nvPr/>
        </p:nvSpPr>
        <p:spPr>
          <a:xfrm>
            <a:off x="5989320" y="1234440"/>
            <a:ext cx="2560320" cy="3200400"/>
          </a:xfrm>
          <a:prstGeom prst="rect">
            <a:avLst/>
          </a:prstGeom>
          <a:noFill/>
          <a:ln/>
        </p:spPr>
        <p:txBody>
          <a:bodyPr wrap="square" rtlCol="0" anchor="t"/>
          <a:lstStyle/>
          <a:p>
            <a:pPr indent="0" marL="0">
              <a:spcAft>
                <a:spcPts val="800"/>
              </a:spcAft>
              <a:buNone/>
            </a:pPr>
            <a:r>
              <a:rPr lang="en-US" sz="1400" b="1" dirty="0">
                <a:solidFill>
                  <a:schemeClr val="tx2"/>
                </a:solidFill>
              </a:rPr>
              <a:t>Why γ ≠ β (a)</a:t>
            </a:r>
            <a:endParaRPr lang="en-US" sz="1400" dirty="0"/>
          </a:p>
          <a:p>
            <a:pPr indent="0" marL="0">
              <a:spcAft>
                <a:spcPts val="800"/>
              </a:spcAft>
              <a:buNone/>
            </a:pPr>
            <a:r>
              <a:rPr lang="en-US" sz="1200" dirty="0">
                <a:solidFill>
                  <a:schemeClr val="tx1"/>
                </a:solidFill>
              </a:rPr>
              <a:t>Split each payoff into a part that flips sign with Z and a part that does not.</a:t>
            </a:r>
            <a:endParaRPr lang="en-US" sz="1400" dirty="0"/>
          </a:p>
          <a:p>
            <a:pPr indent="0" marL="0">
              <a:spcAft>
                <a:spcPts val="800"/>
              </a:spcAft>
              <a:buNone/>
            </a:pPr>
            <a:r>
              <a:rPr lang="en-US" sz="1200" dirty="0">
                <a:solidFill>
                  <a:schemeClr val="tx1"/>
                </a:solidFill>
              </a:rPr>
              <a:t>Pair averaging cancels the sign-flipping part.</a:t>
            </a:r>
            <a:endParaRPr lang="en-US" sz="1400" dirty="0"/>
          </a:p>
          <a:p>
            <a:pPr indent="0" marL="0">
              <a:spcAft>
                <a:spcPts val="800"/>
              </a:spcAft>
              <a:buNone/>
            </a:pPr>
            <a:r>
              <a:rPr lang="en-US" sz="1300" b="1" dirty="0">
                <a:solidFill>
                  <a:schemeClr val="accent1"/>
                </a:solidFill>
              </a:rPr>
              <a:t>β fits both parts; γ fits only the part that remains.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Q5 (a)–(b): baseline results, K = 100</a:t>
            </a:r>
            <a:endParaRPr lang="en-US" sz="2600" dirty="0"/>
          </a:p>
        </p:txBody>
      </p:sp>
      <p:graphicFrame>
        <p:nvGraphicFramePr>
          <p:cNvPr id="3" name="results chart" descr=""/>
          <p:cNvGraphicFramePr/>
          <p:nvPr/>
        </p:nvGraphicFramePr>
        <p:xfrm>
          <a:off x="457200" y="1097280"/>
          <a:ext cx="4389120" cy="3474720"/>
        </p:xfrm>
        <a:graphic xmlns:a="http://schemas.openxmlformats.org/drawingml/2006/main">
          <a:graphicData uri="http://schemas.openxmlformats.org/drawingml/2006/chart">
            <c:chart xmlns:c="http://schemas.openxmlformats.org/drawingml/2006/chart" r:id="rId1"/>
          </a:graphicData>
        </a:graphic>
      </p:graphicFrame>
      <p:sp>
        <p:nvSpPr>
          <p:cNvPr id="4" name="q5a card"/>
          <p:cNvSpPr/>
          <p:nvPr/>
        </p:nvSpPr>
        <p:spPr>
          <a:xfrm>
            <a:off x="5029200" y="1097280"/>
            <a:ext cx="3657600" cy="3474720"/>
          </a:xfrm>
          <a:prstGeom prst="roundRect">
            <a:avLst>
              <a:gd name="adj" fmla="val 2105"/>
            </a:avLst>
          </a:prstGeom>
          <a:solidFill>
            <a:schemeClr val="bg2"/>
          </a:solidFill>
          <a:ln w="12700">
            <a:solidFill>
              <a:schemeClr val="bg2"/>
            </a:solidFill>
            <a:prstDash val="solid"/>
          </a:ln>
        </p:spPr>
      </p:sp>
      <p:sp>
        <p:nvSpPr>
          <p:cNvPr id="5" name="q5a text"/>
          <p:cNvSpPr txBox="1"/>
          <p:nvPr/>
        </p:nvSpPr>
        <p:spPr>
          <a:xfrm>
            <a:off x="5212080" y="1234440"/>
            <a:ext cx="3291840" cy="3200400"/>
          </a:xfrm>
          <a:prstGeom prst="rect">
            <a:avLst/>
          </a:prstGeom>
          <a:noFill/>
          <a:ln/>
        </p:spPr>
        <p:txBody>
          <a:bodyPr wrap="square" rtlCol="0" anchor="t"/>
          <a:lstStyle/>
          <a:p>
            <a:pPr indent="0" marL="0">
              <a:spcAft>
                <a:spcPts val="600"/>
              </a:spcAft>
              <a:buNone/>
            </a:pPr>
            <a:r>
              <a:rPr lang="en-US" sz="1300" b="1" dirty="0">
                <a:solidFill>
                  <a:srgbClr val="D9622B"/>
                </a:solidFill>
              </a:rPr>
              <a:t>CV  </a:t>
            </a:r>
            <a:pPr indent="0" marL="0">
              <a:spcAft>
                <a:spcPts val="600"/>
              </a:spcAft>
              <a:buNone/>
            </a:pPr>
            <a:r>
              <a:rPr lang="en-US" sz="1300" dirty="0">
                <a:solidFill>
                  <a:schemeClr val="tx1"/>
                </a:solidFill>
              </a:rPr>
              <a:t>VRF 3.2. Payoff and control move together (corr 0.83); VRF ≈ 1/(1−corr</a:t>
            </a:r>
            <a:pPr indent="0" marL="0">
              <a:spcAft>
                <a:spcPts val="600"/>
              </a:spcAft>
              <a:buNone/>
            </a:pPr>
            <a:r>
              <a:rPr lang="en-US" sz="1300" baseline="30000" dirty="0">
                <a:solidFill>
                  <a:schemeClr val="tx1"/>
                </a:solidFill>
              </a:rPr>
              <a:t>2</a:t>
            </a:r>
            <a:pPr indent="0" marL="0">
              <a:spcAft>
                <a:spcPts val="600"/>
              </a:spcAft>
              <a:buNone/>
            </a:pPr>
            <a:r>
              <a:rPr lang="en-US" sz="1300" dirty="0">
                <a:solidFill>
                  <a:schemeClr val="tx1"/>
                </a:solidFill>
              </a:rPr>
              <a:t>)</a:t>
            </a:r>
            <a:endParaRPr lang="en-US" sz="1300" dirty="0"/>
          </a:p>
          <a:p>
            <a:pPr indent="0" marL="0">
              <a:spcAft>
                <a:spcPts val="600"/>
              </a:spcAft>
              <a:buNone/>
            </a:pPr>
            <a:r>
              <a:rPr lang="en-US" sz="1300" b="1" dirty="0">
                <a:solidFill>
                  <a:srgbClr val="D9622B"/>
                </a:solidFill>
              </a:rPr>
              <a:t>AV  </a:t>
            </a:r>
            <a:pPr indent="0" marL="0">
              <a:spcAft>
                <a:spcPts val="600"/>
              </a:spcAft>
              <a:buNone/>
            </a:pPr>
            <a:r>
              <a:rPr lang="en-US" sz="1300" dirty="0">
                <a:solidFill>
                  <a:schemeClr val="tx1"/>
                </a:solidFill>
              </a:rPr>
              <a:t>VRF 1.4. Pair outcomes only mildly offset (corr -0.28); VRF ≈ 1/(1+corr)</a:t>
            </a:r>
            <a:endParaRPr lang="en-US" sz="1300" dirty="0"/>
          </a:p>
          <a:p>
            <a:pPr indent="0" marL="0">
              <a:spcAft>
                <a:spcPts val="600"/>
              </a:spcAft>
              <a:buNone/>
            </a:pPr>
            <a:r>
              <a:rPr lang="en-US" sz="1300" b="1" dirty="0">
                <a:solidFill>
                  <a:srgbClr val="D9622B"/>
                </a:solidFill>
              </a:rPr>
              <a:t>Gain  </a:t>
            </a:r>
            <a:pPr indent="0" marL="0">
              <a:spcAft>
                <a:spcPts val="600"/>
              </a:spcAft>
              <a:buNone/>
            </a:pPr>
            <a:r>
              <a:rPr lang="en-US" sz="1300" dirty="0">
                <a:solidFill>
                  <a:schemeClr val="tx1"/>
                </a:solidFill>
              </a:rPr>
              <a:t>AV+CV is first (2.8): a pair needs half the random numbers, so it runs faster</a:t>
            </a:r>
            <a:endParaRPr lang="en-US" sz="1300" dirty="0"/>
          </a:p>
          <a:p>
            <a:pPr indent="0" marL="0">
              <a:spcAft>
                <a:spcPts val="600"/>
              </a:spcAft>
              <a:buNone/>
            </a:pPr>
            <a:r>
              <a:rPr lang="en-US" sz="1300" b="1" dirty="0">
                <a:solidFill>
                  <a:srgbClr val="D9622B"/>
                </a:solidFill>
              </a:rPr>
              <a:t>Prices  </a:t>
            </a:r>
            <a:pPr indent="0" marL="0">
              <a:spcAft>
                <a:spcPts val="600"/>
              </a:spcAft>
              <a:buNone/>
            </a:pPr>
            <a:r>
              <a:rPr lang="en-US" sz="1300" dirty="0">
                <a:solidFill>
                  <a:schemeClr val="tx1"/>
                </a:solidFill>
              </a:rPr>
              <a:t>All four 95% confidence intervals overlap</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l" indent="0" marL="0">
              <a:buNone/>
            </a:pPr>
            <a:r>
              <a:rPr lang="en-US" sz="2600" b="1" dirty="0">
                <a:solidFill>
                  <a:schemeClr val="tx2"/>
                </a:solidFill>
              </a:rPr>
              <a:t>Q5 (c): parameter sensitivity, K = 100</a:t>
            </a:r>
            <a:endParaRPr lang="en-US" sz="2600" dirty="0"/>
          </a:p>
        </p:txBody>
      </p:sp>
      <p:graphicFrame>
        <p:nvGraphicFramePr>
          <p:cNvPr id="3" name="sensitivity chart" descr=""/>
          <p:cNvGraphicFramePr/>
          <p:nvPr/>
        </p:nvGraphicFramePr>
        <p:xfrm>
          <a:off x="457200" y="1097280"/>
          <a:ext cx="4389120" cy="3474720"/>
        </p:xfrm>
        <a:graphic xmlns:a="http://schemas.openxmlformats.org/drawingml/2006/main">
          <a:graphicData uri="http://schemas.openxmlformats.org/drawingml/2006/chart">
            <c:chart xmlns:c="http://schemas.openxmlformats.org/drawingml/2006/chart" r:id="rId1"/>
          </a:graphicData>
        </a:graphic>
      </p:graphicFrame>
      <p:sp>
        <p:nvSpPr>
          <p:cNvPr id="4" name="q5c card"/>
          <p:cNvSpPr/>
          <p:nvPr/>
        </p:nvSpPr>
        <p:spPr>
          <a:xfrm>
            <a:off x="5029200" y="1097280"/>
            <a:ext cx="3657600" cy="3474720"/>
          </a:xfrm>
          <a:prstGeom prst="roundRect">
            <a:avLst>
              <a:gd name="adj" fmla="val 2105"/>
            </a:avLst>
          </a:prstGeom>
          <a:solidFill>
            <a:schemeClr val="bg2"/>
          </a:solidFill>
          <a:ln w="12700">
            <a:solidFill>
              <a:schemeClr val="bg2"/>
            </a:solidFill>
            <a:prstDash val="solid"/>
          </a:ln>
        </p:spPr>
      </p:sp>
      <p:sp>
        <p:nvSpPr>
          <p:cNvPr id="5" name="q5c text"/>
          <p:cNvSpPr txBox="1"/>
          <p:nvPr/>
        </p:nvSpPr>
        <p:spPr>
          <a:xfrm>
            <a:off x="5212080" y="1234440"/>
            <a:ext cx="3291840" cy="3200400"/>
          </a:xfrm>
          <a:prstGeom prst="rect">
            <a:avLst/>
          </a:prstGeom>
          <a:noFill/>
          <a:ln/>
        </p:spPr>
        <p:txBody>
          <a:bodyPr wrap="square" rtlCol="0" anchor="t"/>
          <a:lstStyle/>
          <a:p>
            <a:pPr indent="0" marL="0">
              <a:spcAft>
                <a:spcPts val="600"/>
              </a:spcAft>
              <a:buNone/>
            </a:pPr>
            <a:r>
              <a:rPr lang="en-US" sz="1300" b="1" dirty="0">
                <a:solidFill>
                  <a:srgbClr val="D9622B"/>
                </a:solidFill>
              </a:rPr>
              <a:t>Why  </a:t>
            </a:r>
            <a:pPr indent="0" marL="0">
              <a:spcAft>
                <a:spcPts val="600"/>
              </a:spcAft>
              <a:buNone/>
            </a:pPr>
            <a:r>
              <a:rPr lang="en-US" sz="1300" dirty="0">
                <a:solidFill>
                  <a:schemeClr val="tx1"/>
                </a:solidFill>
              </a:rPr>
              <a:t>Smaller η or larger H: the stock behaves more like the Black–Scholes control, so corr rises (0.83 → 0.97, 0.93) and CV improves</a:t>
            </a:r>
            <a:endParaRPr lang="en-US" sz="1300" dirty="0"/>
          </a:p>
          <a:p>
            <a:pPr indent="0" marL="0">
              <a:spcAft>
                <a:spcPts val="600"/>
              </a:spcAft>
              <a:buNone/>
            </a:pPr>
            <a:r>
              <a:rPr lang="en-US" sz="1300" b="1" dirty="0">
                <a:solidFill>
                  <a:srgbClr val="D9622B"/>
                </a:solidFill>
              </a:rPr>
              <a:t>Baseline  </a:t>
            </a:r>
            <a:pPr indent="0" marL="0">
              <a:spcAft>
                <a:spcPts val="600"/>
              </a:spcAft>
              <a:buNone/>
            </a:pPr>
            <a:r>
              <a:rPr lang="en-US" sz="1300" dirty="0">
                <a:solidFill>
                  <a:schemeClr val="tx1"/>
                </a:solidFill>
              </a:rPr>
              <a:t>AV+CV is below CV. Flipping removes noise the control already explains (corr falls to 0.74 after pairing)</a:t>
            </a:r>
            <a:endParaRPr lang="en-US" sz="1300" dirty="0"/>
          </a:p>
          <a:p>
            <a:pPr indent="0" marL="0">
              <a:spcAft>
                <a:spcPts val="600"/>
              </a:spcAft>
              <a:buNone/>
            </a:pPr>
            <a:r>
              <a:rPr lang="en-US" sz="1300" b="1" dirty="0">
                <a:solidFill>
                  <a:srgbClr val="D9622B"/>
                </a:solidFill>
              </a:rPr>
              <a:t>η = 0.5, H = 0.4  </a:t>
            </a:r>
            <a:pPr indent="0" marL="0">
              <a:spcAft>
                <a:spcPts val="600"/>
              </a:spcAft>
              <a:buNone/>
            </a:pPr>
            <a:r>
              <a:rPr lang="en-US" sz="1300" dirty="0">
                <a:solidFill>
                  <a:schemeClr val="tx1"/>
                </a:solidFill>
              </a:rPr>
              <a:t>the control still fits the pair well, so AV+CV leads on VRF and Gain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nchor="b"/>
          <a:lstStyle/>
          <a:p>
            <a:pPr algn="l" indent="0" marL="0">
              <a:buNone/>
            </a:pPr>
            <a:r>
              <a:rPr lang="en-US" sz="3600" b="1" dirty="0">
                <a:solidFill>
                  <a:schemeClr val="bg1"/>
                </a:solidFill>
              </a:rPr>
              <a:t>Conclusions</a:t>
            </a:r>
            <a:endParaRPr lang="en-US" sz="3600" dirty="0"/>
          </a:p>
        </p:txBody>
      </p:sp>
      <p:sp>
        <p:nvSpPr>
          <p:cNvPr id="3" name="Text 0"/>
          <p:cNvSpPr/>
          <p:nvPr>
            <p:ph idx="101" type="body" hasCustomPrompt="1"/>
          </p:nvPr>
        </p:nvSpPr>
        <p:spPr>
          <a:xfrm>
            <a:off x="548640" y="2788920"/>
            <a:ext cx="8046720" cy="1097280"/>
          </a:xfrm>
          <a:prstGeom prst="rect">
            <a:avLst/>
          </a:prstGeom>
          <a:noFill/>
          <a:ln/>
        </p:spPr>
        <p:txBody>
          <a:bodyPr wrap="square" rtlCol="0" anchor="t"/>
          <a:lstStyle/>
          <a:p>
            <a:pPr marL="342900" indent="-342900">
              <a:spcAft>
                <a:spcPts val="800"/>
              </a:spcAft>
              <a:buSzPct val="100000"/>
              <a:buChar char="•"/>
            </a:pPr>
            <a:r>
              <a:rPr lang="en-US" sz="1600" dirty="0">
                <a:solidFill>
                  <a:schemeClr val="accent3"/>
                </a:solidFill>
              </a:rPr>
              <a:t>Variance reduction (VRF): the control variate is largest at all three baseline strikes</a:t>
            </a:r>
            <a:endParaRPr lang="en-US" sz="1600" dirty="0"/>
          </a:p>
          <a:p>
            <a:pPr marL="342900" indent="-342900">
              <a:spcAft>
                <a:spcPts val="800"/>
              </a:spcAft>
              <a:buSzPct val="100000"/>
              <a:buChar char="•"/>
            </a:pPr>
            <a:r>
              <a:rPr lang="en-US" sz="1600" dirty="0">
                <a:solidFill>
                  <a:schemeClr val="accent3"/>
                </a:solidFill>
              </a:rPr>
              <a:t>Efficiency (Gain): AV+CV is largest at K = 90 and 100; antithetic pairs halve random-number cost</a:t>
            </a:r>
            <a:endParaRPr lang="en-US" sz="1600" dirty="0"/>
          </a:p>
          <a:p>
            <a:pPr marL="342900" indent="-342900">
              <a:spcAft>
                <a:spcPts val="800"/>
              </a:spcAft>
              <a:buSzPct val="100000"/>
              <a:buChar char="•"/>
            </a:pPr>
            <a:r>
              <a:rPr lang="en-US" sz="1600" dirty="0">
                <a:solidFill>
                  <a:schemeClr val="accent3"/>
                </a:solidFill>
              </a:rPr>
              <a:t>With η = 0.5 or H = 0.4, all correlations strengthen and AV+CV leads on both measures</a:t>
            </a:r>
            <a:endParaRPr lang="en-US" sz="1600" dirty="0"/>
          </a:p>
        </p:txBody>
      </p:sp>
    </p:spTree>
  </p:cSld>
  <p:clrMapOvr>
    <a:masterClrMapping/>
  </p:clrMapOvr>
</p:sld>
</file>

<file path=ppt/theme/theme1.xml><?xml version="1.0" encoding="utf-8"?>
<a:theme xmlns:a="http://schemas.openxmlformats.org/drawingml/2006/main" name="Rough Vol">
  <a:themeElements>
    <a:clrScheme name="Rough Vol">
      <a:dk1>
        <a:srgbClr val="1E2328"/>
      </a:dk1>
      <a:lt1>
        <a:srgbClr val="FFFFFF"/>
      </a:lt1>
      <a:dk2>
        <a:srgbClr val="23313D"/>
      </a:dk2>
      <a:lt2>
        <a:srgbClr val="EEF2F4"/>
      </a:lt2>
      <a:accent1>
        <a:srgbClr val="D9622B"/>
      </a:accent1>
      <a:accent2>
        <a:srgbClr val="2F7D8C"/>
      </a:accent2>
      <a:accent3>
        <a:srgbClr val="8FA3AE"/>
      </a:accent3>
      <a:accent4>
        <a:srgbClr val="E9B44C"/>
      </a:accent4>
      <a:accent5>
        <a:srgbClr val="5B6770"/>
      </a:accent5>
      <a:accent6>
        <a:srgbClr val="B23A48"/>
      </a:accent6>
      <a:hlink>
        <a:srgbClr val="2F7D8C"/>
      </a:hlink>
      <a:folHlink>
        <a:srgbClr val="5B6770"/>
      </a:folHlink>
    </a:clrScheme>
    <a:fontScheme name="Rough Vo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Variance reduction in a rough volatility model</dc:title>
  <dc:subject>PptxGenJS Presentation</dc:subject>
  <dc:creator>Team 9</dc:creator>
  <cp:lastModifiedBy>Team 9</cp:lastModifiedBy>
  <cp:revision>1</cp:revision>
  <dcterms:created xsi:type="dcterms:W3CDTF">2026-10-05T20:04:43Z</dcterms:created>
  <dcterms:modified xsi:type="dcterms:W3CDTF">2026-10-05T20:04:43Z</dcterms:modified>
</cp:coreProperties>
</file>