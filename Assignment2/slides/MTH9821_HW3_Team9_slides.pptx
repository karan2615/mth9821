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Bermudan put with S0 = K = 100, r = 5%, sigma = 20%, T = 1, exercise at 51 grid dates. We learn an exercise policy two ways, freeze it, and price it on an independent set of paths. Question: do the methods really differ once the policies are evaluated independently?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The policy value is a deterministic function of the state; along one path the discounted cash flow is random, and its conditional mean is V. (2) Backward induction: at each date any policy either exercises (gets g) or continues (gets at most C*), so it gets at most max(g, C*); the greedy policy attains it. (3) Both middle paths end at 96, but the alive flag depends on the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responses at a date are formed before any exercise index is updated. No small-sample fallback was needed in any of the twelve fits.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Fitted Q has lower-variance targets than LSM, but its regression error and the upward bias of the max in (12) are passed back through all 49 dates. Fitting only in-the-money states would leave out-of-the-money values to polynomial extrapolation.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20,000 paths per seed, reused by both methods and degrees. One evaluation set, seed 20261008, never used for tuning. Training takes about 0.15 s per policy and evaluation about 0.3–0.45 s. LSM fitted values differ from policy values by at most 0.08, within about 1.6 training standard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Differences are paired on the same 100,000 evaluation paths, so the SE is much smaller than comparing two separate prices. The three seeds are reported separately, not pooled. In the plot, FQ degree 2 places continuation above the payoff where exercise should happen, so it exercises too late. LSM d = 2 and d = 4 boundaries differ by about 1 in the stock price but the price differs by only about 0.02.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benchmark is the finest refined tree value; its last refinement changed it by 0.00003, which is an empirical check, not a certified bound.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80160"/>
            <a:ext cx="8046720" cy="137160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3" name="Text 0"/>
          <p:cNvSpPr/>
          <p:nvPr>
            <p:ph idx="101" type="body" hasCustomPrompt="1"/>
          </p:nvPr>
        </p:nvSpPr>
        <p:spPr>
          <a:xfrm>
            <a:off x="548640" y="2788920"/>
            <a:ext cx="8046720" cy="1463040"/>
          </a:xfrm>
          <a:prstGeom prst="rect">
            <a:avLst/>
          </a:prstGeom>
          <a:noFill/>
          <a:ln/>
        </p:spPr>
        <p:txBody>
          <a:bodyPr wrap="square" rtlCol="0"/>
          <a:lstStyle>
            <a:lvl1pPr indent="0" marL="0">
              <a:buNone/>
              <a:defRPr lang="en-US" sz="1600" dirty="0">
                <a:solidFill>
                  <a:schemeClr val="accent3"/>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2600" b="1" dirty="0">
                <a:solidFill>
                  <a:schemeClr val="tx2"/>
                </a:solidFill>
              </a:defRPr>
            </a:lvl1pPr>
          </a:lstStyle>
          <a:p>
            <a:pPr algn="l" indent="0" marL="0">
              <a:buNone/>
            </a:pPr>
            <a:endParaRPr lang="en-US" sz="2600" dirty="0"/>
          </a:p>
        </p:txBody>
      </p:sp>
      <p:sp>
        <p:nvSpPr>
          <p:cNvPr id="3" name="Text 0"/>
          <p:cNvSpPr txBox="1"/>
          <p:nvPr/>
        </p:nvSpPr>
        <p:spPr>
          <a:xfrm>
            <a:off x="457200" y="4754880"/>
            <a:ext cx="3657600" cy="274320"/>
          </a:xfrm>
          <a:prstGeom prst="rect">
            <a:avLst/>
          </a:prstGeom>
          <a:noFill/>
          <a:ln/>
        </p:spPr>
        <p:txBody>
          <a:bodyPr wrap="square" rtlCol="0" anchor="ctr"/>
          <a:lstStyle/>
          <a:p>
            <a:pPr indent="0" marL="0">
              <a:buNone/>
            </a:pPr>
            <a:r>
              <a:rPr lang="en-US" sz="1000" dirty="0">
                <a:solidFill>
                  <a:schemeClr val="accent5"/>
                </a:solidFill>
              </a:rPr>
              <a:t>MTH 9821 · Team 9</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80160"/>
            <a:ext cx="8046720" cy="1371600"/>
          </a:xfrm>
          <a:prstGeom prst="rect">
            <a:avLst/>
          </a:prstGeom>
          <a:noFill/>
          <a:ln/>
        </p:spPr>
        <p:txBody>
          <a:bodyPr wrap="square" rtlCol="0" anchor="b"/>
          <a:lstStyle/>
          <a:p>
            <a:pPr algn="l" indent="0" marL="0">
              <a:buNone/>
            </a:pPr>
            <a:r>
              <a:rPr lang="en-US" sz="3400" b="1" dirty="0">
                <a:solidFill>
                  <a:schemeClr val="bg1"/>
                </a:solidFill>
              </a:rPr>
              <a:t>American options: policy evaluation and fitted Q-learning</a:t>
            </a:r>
            <a:endParaRPr lang="en-US" sz="3400" dirty="0"/>
          </a:p>
        </p:txBody>
      </p:sp>
      <p:sp>
        <p:nvSpPr>
          <p:cNvPr id="3" name="Text 0"/>
          <p:cNvSpPr/>
          <p:nvPr>
            <p:ph idx="101" type="body" hasCustomPrompt="1"/>
          </p:nvPr>
        </p:nvSpPr>
        <p:spPr>
          <a:xfrm>
            <a:off x="548640" y="2788920"/>
            <a:ext cx="8046720" cy="1463040"/>
          </a:xfrm>
          <a:prstGeom prst="rect">
            <a:avLst/>
          </a:prstGeom>
          <a:noFill/>
          <a:ln/>
        </p:spPr>
        <p:txBody>
          <a:bodyPr wrap="square" rtlCol="0" anchor="t"/>
          <a:lstStyle/>
          <a:p>
            <a:pPr indent="0" marL="0">
              <a:buNone/>
            </a:pPr>
            <a:r>
              <a:rPr lang="en-US" sz="1600" dirty="0">
                <a:solidFill>
                  <a:schemeClr val="accent3"/>
                </a:solidFill>
              </a:rPr>
              <a:t>Bermudan put, 50 exercise dates: Longstaff–Schwartz vs fitted Q-learning</a:t>
            </a:r>
            <a:endParaRPr lang="en-US" sz="1600" dirty="0"/>
          </a:p>
          <a:p>
            <a:pPr indent="0" marL="0">
              <a:buNone/>
            </a:pPr>
            <a:r>
              <a:rPr lang="en-US" sz="1600" dirty="0">
                <a:solidFill>
                  <a:schemeClr val="accent3"/>
                </a:solidFill>
              </a:rPr>
              <a:t>Team 9 · Jaskaran Kalra, William McDonnell</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algn="l" indent="0" marL="0">
              <a:buNone/>
            </a:pPr>
            <a:r>
              <a:rPr lang="en-US" sz="2600" b="1" dirty="0">
                <a:solidFill>
                  <a:schemeClr val="tx2"/>
                </a:solidFill>
              </a:rPr>
              <a:t>Q1: the value function</a:t>
            </a:r>
            <a:endParaRPr lang="en-US" sz="2600" dirty="0"/>
          </a:p>
        </p:txBody>
      </p:sp>
      <p:sp>
        <p:nvSpPr>
          <p:cNvPr id="3" name="q1 text"/>
          <p:cNvSpPr txBox="1"/>
          <p:nvPr/>
        </p:nvSpPr>
        <p:spPr>
          <a:xfrm>
            <a:off x="457200" y="1097280"/>
            <a:ext cx="4846320" cy="3474720"/>
          </a:xfrm>
          <a:prstGeom prst="rect">
            <a:avLst/>
          </a:prstGeom>
          <a:noFill/>
          <a:ln/>
        </p:spPr>
        <p:txBody>
          <a:bodyPr wrap="square" rtlCol="0" anchor="t"/>
          <a:lstStyle/>
          <a:p>
            <a:pPr indent="0" marL="0">
              <a:spcAft>
                <a:spcPts val="700"/>
              </a:spcAft>
              <a:buNone/>
            </a:pPr>
            <a:r>
              <a:rPr lang="en-US" sz="1300" b="1" dirty="0">
                <a:solidFill>
                  <a:srgbClr val="D9622B"/>
                </a:solidFill>
              </a:rPr>
              <a:t>(1)  </a:t>
            </a:r>
            <a:pPr indent="0" marL="0">
              <a:spcAft>
                <a:spcPts val="700"/>
              </a:spcAft>
              <a:buNone/>
            </a:pPr>
            <a:r>
              <a:rPr lang="en-US" sz="1300" dirty="0">
                <a:solidFill>
                  <a:schemeClr val="tx1"/>
                </a:solidFill>
              </a:rPr>
              <a:t>V</a:t>
            </a:r>
            <a:pPr indent="0" marL="0">
              <a:spcAft>
                <a:spcPts val="700"/>
              </a:spcAft>
              <a:buNone/>
            </a:pPr>
            <a:r>
              <a:rPr lang="en-US" sz="1300" baseline="30000" dirty="0">
                <a:solidFill>
                  <a:schemeClr val="tx1"/>
                </a:solidFill>
              </a:rPr>
              <a:t>a</a:t>
            </a:r>
            <a:pPr indent="0" marL="0">
              <a:spcAft>
                <a:spcPts val="700"/>
              </a:spcAft>
              <a:buNone/>
            </a:pPr>
            <a:r>
              <a:rPr lang="en-US" sz="1300" baseline="-40000" dirty="0">
                <a:solidFill>
                  <a:schemeClr val="tx1"/>
                </a:solidFill>
              </a:rPr>
              <a:t>n</a:t>
            </a:r>
            <a:pPr indent="0" marL="0">
              <a:spcAft>
                <a:spcPts val="700"/>
              </a:spcAft>
              <a:buNone/>
            </a:pPr>
            <a:r>
              <a:rPr lang="en-US" sz="1300" dirty="0">
                <a:solidFill>
                  <a:schemeClr val="tx1"/>
                </a:solidFill>
              </a:rPr>
              <a:t>(s,x) = E[Σ</a:t>
            </a:r>
            <a:pPr indent="0" marL="0">
              <a:spcAft>
                <a:spcPts val="700"/>
              </a:spcAft>
              <a:buNone/>
            </a:pPr>
            <a:r>
              <a:rPr lang="en-US" sz="1300" baseline="-40000" dirty="0">
                <a:solidFill>
                  <a:schemeClr val="tx1"/>
                </a:solidFill>
              </a:rPr>
              <a:t>m≥n</a:t>
            </a:r>
            <a:pPr indent="0" marL="0">
              <a:spcAft>
                <a:spcPts val="700"/>
              </a:spcAft>
              <a:buNone/>
            </a:pPr>
            <a:r>
              <a:rPr lang="en-US" sz="1300" dirty="0">
                <a:solidFill>
                  <a:schemeClr val="tx1"/>
                </a:solidFill>
              </a:rPr>
              <a:t> β</a:t>
            </a:r>
            <a:pPr indent="0" marL="0">
              <a:spcAft>
                <a:spcPts val="700"/>
              </a:spcAft>
              <a:buNone/>
            </a:pPr>
            <a:r>
              <a:rPr lang="en-US" sz="1300" baseline="30000" dirty="0">
                <a:solidFill>
                  <a:schemeClr val="tx1"/>
                </a:solidFill>
              </a:rPr>
              <a:t>m−n</a:t>
            </a:r>
            <a:pPr indent="0" marL="0">
              <a:spcAft>
                <a:spcPts val="700"/>
              </a:spcAft>
              <a:buNone/>
            </a:pPr>
            <a:r>
              <a:rPr lang="en-US" sz="1300" dirty="0">
                <a:solidFill>
                  <a:schemeClr val="tx1"/>
                </a:solidFill>
              </a:rPr>
              <a:t> x</a:t>
            </a:r>
            <a:pPr indent="0" marL="0">
              <a:spcAft>
                <a:spcPts val="700"/>
              </a:spcAft>
              <a:buNone/>
            </a:pPr>
            <a:r>
              <a:rPr lang="en-US" sz="1300" baseline="-40000" dirty="0">
                <a:solidFill>
                  <a:schemeClr val="tx1"/>
                </a:solidFill>
              </a:rPr>
              <a:t>m</a:t>
            </a:r>
            <a:pPr indent="0" marL="0">
              <a:spcAft>
                <a:spcPts val="700"/>
              </a:spcAft>
              <a:buNone/>
            </a:pPr>
            <a:r>
              <a:rPr lang="en-US" sz="1300" dirty="0">
                <a:solidFill>
                  <a:schemeClr val="tx1"/>
                </a:solidFill>
              </a:rPr>
              <a:t> a</a:t>
            </a:r>
            <a:pPr indent="0" marL="0">
              <a:spcAft>
                <a:spcPts val="700"/>
              </a:spcAft>
              <a:buNone/>
            </a:pPr>
            <a:r>
              <a:rPr lang="en-US" sz="1300" baseline="-40000" dirty="0">
                <a:solidFill>
                  <a:schemeClr val="tx1"/>
                </a:solidFill>
              </a:rPr>
              <a:t>m</a:t>
            </a:r>
            <a:pPr indent="0" marL="0">
              <a:spcAft>
                <a:spcPts val="700"/>
              </a:spcAft>
              <a:buNone/>
            </a:pPr>
            <a:r>
              <a:rPr lang="en-US" sz="1300" dirty="0">
                <a:solidFill>
                  <a:schemeClr val="tx1"/>
                </a:solidFill>
              </a:rPr>
              <a:t> g(S</a:t>
            </a:r>
            <a:pPr indent="0" marL="0">
              <a:spcAft>
                <a:spcPts val="700"/>
              </a:spcAft>
              <a:buNone/>
            </a:pPr>
            <a:r>
              <a:rPr lang="en-US" sz="1300" baseline="-40000" dirty="0">
                <a:solidFill>
                  <a:schemeClr val="tx1"/>
                </a:solidFill>
              </a:rPr>
              <a:t>m</a:t>
            </a:r>
            <a:pPr indent="0" marL="0">
              <a:spcAft>
                <a:spcPts val="700"/>
              </a:spcAft>
              <a:buNone/>
            </a:pPr>
            <a:r>
              <a:rPr lang="en-US" sz="1300" dirty="0">
                <a:solidFill>
                  <a:schemeClr val="tx1"/>
                </a:solidFill>
              </a:rPr>
              <a:t>) | S</a:t>
            </a:r>
            <a:pPr indent="0" marL="0">
              <a:spcAft>
                <a:spcPts val="700"/>
              </a:spcAft>
              <a:buNone/>
            </a:pPr>
            <a:r>
              <a:rPr lang="en-US" sz="1300" baseline="-40000" dirty="0">
                <a:solidFill>
                  <a:schemeClr val="tx1"/>
                </a:solidFill>
              </a:rPr>
              <a:t>n</a:t>
            </a:r>
            <a:pPr indent="0" marL="0">
              <a:spcAft>
                <a:spcPts val="700"/>
              </a:spcAft>
              <a:buNone/>
            </a:pPr>
            <a:r>
              <a:rPr lang="en-US" sz="1300" dirty="0">
                <a:solidFill>
                  <a:schemeClr val="tx1"/>
                </a:solidFill>
              </a:rPr>
              <a:t> = s, x</a:t>
            </a:r>
            <a:pPr indent="0" marL="0">
              <a:spcAft>
                <a:spcPts val="700"/>
              </a:spcAft>
              <a:buNone/>
            </a:pPr>
            <a:r>
              <a:rPr lang="en-US" sz="1300" baseline="-40000" dirty="0">
                <a:solidFill>
                  <a:schemeClr val="tx1"/>
                </a:solidFill>
              </a:rPr>
              <a:t>n</a:t>
            </a:r>
            <a:pPr indent="0" marL="0">
              <a:spcAft>
                <a:spcPts val="700"/>
              </a:spcAft>
              <a:buNone/>
            </a:pPr>
            <a:r>
              <a:rPr lang="en-US" sz="1300" dirty="0">
                <a:solidFill>
                  <a:schemeClr val="tx1"/>
                </a:solidFill>
              </a:rPr>
              <a:t> = x]</a:t>
            </a:r>
            <a:endParaRPr lang="en-US" sz="1400" dirty="0"/>
          </a:p>
          <a:p>
            <a:pPr indent="0" marL="0">
              <a:spcAft>
                <a:spcPts val="700"/>
              </a:spcAft>
              <a:buNone/>
            </a:pPr>
            <a:r>
              <a:rPr lang="en-US" sz="1300" b="1" dirty="0">
                <a:solidFill>
                  <a:srgbClr val="D9622B"/>
                </a:solidFill>
              </a:rPr>
              <a:t>(1)  </a:t>
            </a:r>
            <a:pPr indent="0" marL="0">
              <a:spcAft>
                <a:spcPts val="700"/>
              </a:spcAft>
              <a:buNone/>
            </a:pPr>
            <a:r>
              <a:rPr lang="en-US" sz="1300" dirty="0">
                <a:solidFill>
                  <a:schemeClr val="tx1"/>
                </a:solidFill>
              </a:rPr>
              <a:t>Recursion: V</a:t>
            </a:r>
            <a:pPr indent="0" marL="0">
              <a:spcAft>
                <a:spcPts val="700"/>
              </a:spcAft>
              <a:buNone/>
            </a:pPr>
            <a:r>
              <a:rPr lang="en-US" sz="1300" baseline="30000" dirty="0">
                <a:solidFill>
                  <a:schemeClr val="tx1"/>
                </a:solidFill>
              </a:rPr>
              <a:t>a</a:t>
            </a:r>
            <a:pPr indent="0" marL="0">
              <a:spcAft>
                <a:spcPts val="700"/>
              </a:spcAft>
              <a:buNone/>
            </a:pPr>
            <a:r>
              <a:rPr lang="en-US" sz="1300" baseline="-40000" dirty="0">
                <a:solidFill>
                  <a:schemeClr val="tx1"/>
                </a:solidFill>
              </a:rPr>
              <a:t>n</a:t>
            </a:r>
            <a:pPr indent="0" marL="0">
              <a:spcAft>
                <a:spcPts val="700"/>
              </a:spcAft>
              <a:buNone/>
            </a:pPr>
            <a:r>
              <a:rPr lang="en-US" sz="1300" dirty="0">
                <a:solidFill>
                  <a:schemeClr val="tx1"/>
                </a:solidFill>
              </a:rPr>
              <a:t> = x a</a:t>
            </a:r>
            <a:pPr indent="0" marL="0">
              <a:spcAft>
                <a:spcPts val="700"/>
              </a:spcAft>
              <a:buNone/>
            </a:pPr>
            <a:r>
              <a:rPr lang="en-US" sz="1300" baseline="-40000" dirty="0">
                <a:solidFill>
                  <a:schemeClr val="tx1"/>
                </a:solidFill>
              </a:rPr>
              <a:t>n</a:t>
            </a:r>
            <a:pPr indent="0" marL="0">
              <a:spcAft>
                <a:spcPts val="700"/>
              </a:spcAft>
              <a:buNone/>
            </a:pPr>
            <a:r>
              <a:rPr lang="en-US" sz="1300" dirty="0">
                <a:solidFill>
                  <a:schemeClr val="tx1"/>
                </a:solidFill>
              </a:rPr>
              <a:t> g(s) + β E[V</a:t>
            </a:r>
            <a:pPr indent="0" marL="0">
              <a:spcAft>
                <a:spcPts val="700"/>
              </a:spcAft>
              <a:buNone/>
            </a:pPr>
            <a:r>
              <a:rPr lang="en-US" sz="1300" baseline="30000" dirty="0">
                <a:solidFill>
                  <a:schemeClr val="tx1"/>
                </a:solidFill>
              </a:rPr>
              <a:t>a</a:t>
            </a:r>
            <a:pPr indent="0" marL="0">
              <a:spcAft>
                <a:spcPts val="700"/>
              </a:spcAft>
              <a:buNone/>
            </a:pPr>
            <a:r>
              <a:rPr lang="en-US" sz="1300" baseline="-40000" dirty="0">
                <a:solidFill>
                  <a:schemeClr val="tx1"/>
                </a:solidFill>
              </a:rPr>
              <a:t>n+1</a:t>
            </a:r>
            <a:pPr indent="0" marL="0">
              <a:spcAft>
                <a:spcPts val="700"/>
              </a:spcAft>
              <a:buNone/>
            </a:pPr>
            <a:r>
              <a:rPr lang="en-US" sz="1300" dirty="0">
                <a:solidFill>
                  <a:schemeClr val="tx1"/>
                </a:solidFill>
              </a:rPr>
              <a:t>(S</a:t>
            </a:r>
            <a:pPr indent="0" marL="0">
              <a:spcAft>
                <a:spcPts val="700"/>
              </a:spcAft>
              <a:buNone/>
            </a:pPr>
            <a:r>
              <a:rPr lang="en-US" sz="1300" baseline="-40000" dirty="0">
                <a:solidFill>
                  <a:schemeClr val="tx1"/>
                </a:solidFill>
              </a:rPr>
              <a:t>n+1</a:t>
            </a:r>
            <a:pPr indent="0" marL="0">
              <a:spcAft>
                <a:spcPts val="700"/>
              </a:spcAft>
              <a:buNone/>
            </a:pPr>
            <a:r>
              <a:rPr lang="en-US" sz="1300" dirty="0">
                <a:solidFill>
                  <a:schemeClr val="tx1"/>
                </a:solidFill>
              </a:rPr>
              <a:t>, (x − a</a:t>
            </a:r>
            <a:pPr indent="0" marL="0">
              <a:spcAft>
                <a:spcPts val="700"/>
              </a:spcAft>
              <a:buNone/>
            </a:pPr>
            <a:r>
              <a:rPr lang="en-US" sz="1300" baseline="-40000" dirty="0">
                <a:solidFill>
                  <a:schemeClr val="tx1"/>
                </a:solidFill>
              </a:rPr>
              <a:t>n</a:t>
            </a:r>
            <a:pPr indent="0" marL="0">
              <a:spcAft>
                <a:spcPts val="700"/>
              </a:spcAft>
              <a:buNone/>
            </a:pPr>
            <a:r>
              <a:rPr lang="en-US" sz="1300" dirty="0">
                <a:solidFill>
                  <a:schemeClr val="tx1"/>
                </a:solidFill>
              </a:rPr>
              <a:t>)</a:t>
            </a:r>
            <a:pPr indent="0" marL="0">
              <a:spcAft>
                <a:spcPts val="700"/>
              </a:spcAft>
              <a:buNone/>
            </a:pPr>
            <a:r>
              <a:rPr lang="en-US" sz="1300" baseline="30000" dirty="0">
                <a:solidFill>
                  <a:schemeClr val="tx1"/>
                </a:solidFill>
              </a:rPr>
              <a:t>+</a:t>
            </a:r>
            <a:pPr indent="0" marL="0">
              <a:spcAft>
                <a:spcPts val="700"/>
              </a:spcAft>
              <a:buNone/>
            </a:pPr>
            <a:r>
              <a:rPr lang="en-US" sz="1300" dirty="0">
                <a:solidFill>
                  <a:schemeClr val="tx1"/>
                </a:solidFill>
              </a:rPr>
              <a:t>)]</a:t>
            </a:r>
            <a:endParaRPr lang="en-US" sz="1400" dirty="0"/>
          </a:p>
          <a:p>
            <a:pPr indent="0" marL="0">
              <a:spcAft>
                <a:spcPts val="700"/>
              </a:spcAft>
              <a:buNone/>
            </a:pPr>
            <a:r>
              <a:rPr lang="en-US" sz="1300" b="1" dirty="0">
                <a:solidFill>
                  <a:srgbClr val="D9622B"/>
                </a:solidFill>
              </a:rPr>
              <a:t>Why  </a:t>
            </a:r>
            <a:pPr indent="0" marL="0">
              <a:spcAft>
                <a:spcPts val="700"/>
              </a:spcAft>
              <a:buNone/>
            </a:pPr>
            <a:r>
              <a:rPr lang="en-US" sz="1300" dirty="0">
                <a:solidFill>
                  <a:schemeClr val="tx1"/>
                </a:solidFill>
              </a:rPr>
              <a:t>x = 0 stays 0, so an exercised option has value 0: it pays once</a:t>
            </a:r>
            <a:endParaRPr lang="en-US" sz="1400" dirty="0"/>
          </a:p>
          <a:p>
            <a:pPr indent="0" marL="0">
              <a:spcAft>
                <a:spcPts val="700"/>
              </a:spcAft>
              <a:buNone/>
            </a:pPr>
            <a:r>
              <a:rPr lang="en-US" sz="1300" b="1" dirty="0">
                <a:solidFill>
                  <a:srgbClr val="D9622B"/>
                </a:solidFill>
              </a:rPr>
              <a:t>(2)  </a:t>
            </a:r>
            <a:pPr indent="0" marL="0">
              <a:spcAft>
                <a:spcPts val="700"/>
              </a:spcAft>
              <a:buNone/>
            </a:pPr>
            <a:r>
              <a:rPr lang="en-US" sz="1300" dirty="0">
                <a:solidFill>
                  <a:schemeClr val="tx1"/>
                </a:solidFill>
              </a:rPr>
              <a:t>C</a:t>
            </a:r>
            <a:pPr indent="0" marL="0">
              <a:spcAft>
                <a:spcPts val="700"/>
              </a:spcAft>
              <a:buNone/>
            </a:pPr>
            <a:r>
              <a:rPr lang="en-US" sz="1300" baseline="30000" dirty="0">
                <a:solidFill>
                  <a:schemeClr val="tx1"/>
                </a:solidFill>
              </a:rPr>
              <a:t>*</a:t>
            </a:r>
            <a:pPr indent="0" marL="0">
              <a:spcAft>
                <a:spcPts val="700"/>
              </a:spcAft>
              <a:buNone/>
            </a:pPr>
            <a:r>
              <a:rPr lang="en-US" sz="1300" baseline="-40000" dirty="0">
                <a:solidFill>
                  <a:schemeClr val="tx1"/>
                </a:solidFill>
              </a:rPr>
              <a:t>n</a:t>
            </a:r>
            <a:pPr indent="0" marL="0">
              <a:spcAft>
                <a:spcPts val="700"/>
              </a:spcAft>
              <a:buNone/>
            </a:pPr>
            <a:r>
              <a:rPr lang="en-US" sz="1300" dirty="0">
                <a:solidFill>
                  <a:schemeClr val="tx1"/>
                </a:solidFill>
              </a:rPr>
              <a:t>(s) = β E[V</a:t>
            </a:r>
            <a:pPr indent="0" marL="0">
              <a:spcAft>
                <a:spcPts val="700"/>
              </a:spcAft>
              <a:buNone/>
            </a:pPr>
            <a:r>
              <a:rPr lang="en-US" sz="1300" baseline="30000" dirty="0">
                <a:solidFill>
                  <a:schemeClr val="tx1"/>
                </a:solidFill>
              </a:rPr>
              <a:t>*</a:t>
            </a:r>
            <a:pPr indent="0" marL="0">
              <a:spcAft>
                <a:spcPts val="700"/>
              </a:spcAft>
              <a:buNone/>
            </a:pPr>
            <a:r>
              <a:rPr lang="en-US" sz="1300" baseline="-40000" dirty="0">
                <a:solidFill>
                  <a:schemeClr val="tx1"/>
                </a:solidFill>
              </a:rPr>
              <a:t>n+1</a:t>
            </a:r>
            <a:pPr indent="0" marL="0">
              <a:spcAft>
                <a:spcPts val="700"/>
              </a:spcAft>
              <a:buNone/>
            </a:pPr>
            <a:r>
              <a:rPr lang="en-US" sz="1300" dirty="0">
                <a:solidFill>
                  <a:schemeClr val="tx1"/>
                </a:solidFill>
              </a:rPr>
              <a:t>(S</a:t>
            </a:r>
            <a:pPr indent="0" marL="0">
              <a:spcAft>
                <a:spcPts val="700"/>
              </a:spcAft>
              <a:buNone/>
            </a:pPr>
            <a:r>
              <a:rPr lang="en-US" sz="1300" baseline="-40000" dirty="0">
                <a:solidFill>
                  <a:schemeClr val="tx1"/>
                </a:solidFill>
              </a:rPr>
              <a:t>n+1</a:t>
            </a:r>
            <a:pPr indent="0" marL="0">
              <a:spcAft>
                <a:spcPts val="700"/>
              </a:spcAft>
              <a:buNone/>
            </a:pPr>
            <a:r>
              <a:rPr lang="en-US" sz="1300" dirty="0">
                <a:solidFill>
                  <a:schemeClr val="tx1"/>
                </a:solidFill>
              </a:rPr>
              <a:t>,1) | S</a:t>
            </a:r>
            <a:pPr indent="0" marL="0">
              <a:spcAft>
                <a:spcPts val="700"/>
              </a:spcAft>
              <a:buNone/>
            </a:pPr>
            <a:r>
              <a:rPr lang="en-US" sz="1300" baseline="-40000" dirty="0">
                <a:solidFill>
                  <a:schemeClr val="tx1"/>
                </a:solidFill>
              </a:rPr>
              <a:t>n</a:t>
            </a:r>
            <a:pPr indent="0" marL="0">
              <a:spcAft>
                <a:spcPts val="700"/>
              </a:spcAft>
              <a:buNone/>
            </a:pPr>
            <a:r>
              <a:rPr lang="en-US" sz="1300" dirty="0">
                <a:solidFill>
                  <a:schemeClr val="tx1"/>
                </a:solidFill>
              </a:rPr>
              <a:t> = s],  V</a:t>
            </a:r>
            <a:pPr indent="0" marL="0">
              <a:spcAft>
                <a:spcPts val="700"/>
              </a:spcAft>
              <a:buNone/>
            </a:pPr>
            <a:r>
              <a:rPr lang="en-US" sz="1300" baseline="30000" dirty="0">
                <a:solidFill>
                  <a:schemeClr val="tx1"/>
                </a:solidFill>
              </a:rPr>
              <a:t>*</a:t>
            </a:r>
            <a:pPr indent="0" marL="0">
              <a:spcAft>
                <a:spcPts val="700"/>
              </a:spcAft>
              <a:buNone/>
            </a:pPr>
            <a:r>
              <a:rPr lang="en-US" sz="1300" baseline="-40000" dirty="0">
                <a:solidFill>
                  <a:schemeClr val="tx1"/>
                </a:solidFill>
              </a:rPr>
              <a:t>n</a:t>
            </a:r>
            <a:pPr indent="0" marL="0">
              <a:spcAft>
                <a:spcPts val="700"/>
              </a:spcAft>
              <a:buNone/>
            </a:pPr>
            <a:r>
              <a:rPr lang="en-US" sz="1300" dirty="0">
                <a:solidFill>
                  <a:schemeClr val="tx1"/>
                </a:solidFill>
              </a:rPr>
              <a:t> = max(g, C</a:t>
            </a:r>
            <a:pPr indent="0" marL="0">
              <a:spcAft>
                <a:spcPts val="700"/>
              </a:spcAft>
              <a:buNone/>
            </a:pPr>
            <a:r>
              <a:rPr lang="en-US" sz="1300" baseline="30000" dirty="0">
                <a:solidFill>
                  <a:schemeClr val="tx1"/>
                </a:solidFill>
              </a:rPr>
              <a:t>*</a:t>
            </a:r>
            <a:pPr indent="0" marL="0">
              <a:spcAft>
                <a:spcPts val="700"/>
              </a:spcAft>
              <a:buNone/>
            </a:pPr>
            <a:r>
              <a:rPr lang="en-US" sz="1300" baseline="-40000" dirty="0">
                <a:solidFill>
                  <a:schemeClr val="tx1"/>
                </a:solidFill>
              </a:rPr>
              <a:t>n</a:t>
            </a:r>
            <a:pPr indent="0" marL="0">
              <a:spcAft>
                <a:spcPts val="700"/>
              </a:spcAft>
              <a:buNone/>
            </a:pPr>
            <a:r>
              <a:rPr lang="en-US" sz="1300" dirty="0">
                <a:solidFill>
                  <a:schemeClr val="tx1"/>
                </a:solidFill>
              </a:rPr>
              <a:t>)</a:t>
            </a:r>
            <a:endParaRPr lang="en-US" sz="1400" dirty="0"/>
          </a:p>
          <a:p>
            <a:pPr indent="0" marL="0">
              <a:spcAft>
                <a:spcPts val="700"/>
              </a:spcAft>
              <a:buNone/>
            </a:pPr>
            <a:r>
              <a:rPr lang="en-US" sz="1300" b="1" dirty="0">
                <a:solidFill>
                  <a:srgbClr val="D9622B"/>
                </a:solidFill>
              </a:rPr>
              <a:t>Why  </a:t>
            </a:r>
            <a:pPr indent="0" marL="0">
              <a:spcAft>
                <a:spcPts val="700"/>
              </a:spcAft>
              <a:buNone/>
            </a:pPr>
            <a:r>
              <a:rPr lang="en-US" sz="1300" dirty="0">
                <a:solidFill>
                  <a:schemeClr val="tx1"/>
                </a:solidFill>
              </a:rPr>
              <a:t>S is Markov: past prices add nothing about S</a:t>
            </a:r>
            <a:pPr indent="0" marL="0">
              <a:spcAft>
                <a:spcPts val="700"/>
              </a:spcAft>
              <a:buNone/>
            </a:pPr>
            <a:r>
              <a:rPr lang="en-US" sz="1300" baseline="-40000" dirty="0">
                <a:solidFill>
                  <a:schemeClr val="tx1"/>
                </a:solidFill>
              </a:rPr>
              <a:t>n+1</a:t>
            </a:r>
            <a:pPr indent="0" marL="0">
              <a:spcAft>
                <a:spcPts val="700"/>
              </a:spcAft>
              <a:buNone/>
            </a:pPr>
            <a:r>
              <a:rPr lang="en-US" sz="1300" dirty="0">
                <a:solidFill>
                  <a:schemeClr val="tx1"/>
                </a:solidFill>
              </a:rPr>
              <a:t>, so using history cannot beat V</a:t>
            </a:r>
            <a:pPr indent="0" marL="0">
              <a:spcAft>
                <a:spcPts val="700"/>
              </a:spcAft>
              <a:buNone/>
            </a:pPr>
            <a:r>
              <a:rPr lang="en-US" sz="1300" baseline="30000" dirty="0">
                <a:solidFill>
                  <a:schemeClr val="tx1"/>
                </a:solidFill>
              </a:rPr>
              <a:t>*</a:t>
            </a:r>
            <a:endParaRPr lang="en-US" sz="1400" dirty="0"/>
          </a:p>
        </p:txBody>
      </p:sp>
      <p:sp>
        <p:nvSpPr>
          <p:cNvPr id="4" name="q1 card"/>
          <p:cNvSpPr/>
          <p:nvPr/>
        </p:nvSpPr>
        <p:spPr>
          <a:xfrm>
            <a:off x="5486400" y="1097280"/>
            <a:ext cx="3200400" cy="3474720"/>
          </a:xfrm>
          <a:prstGeom prst="roundRect">
            <a:avLst>
              <a:gd name="adj" fmla="val 2286"/>
            </a:avLst>
          </a:prstGeom>
          <a:solidFill>
            <a:schemeClr val="bg2"/>
          </a:solidFill>
          <a:ln w="12700">
            <a:solidFill>
              <a:schemeClr val="bg2"/>
            </a:solidFill>
            <a:prstDash val="solid"/>
          </a:ln>
        </p:spPr>
      </p:sp>
      <p:sp>
        <p:nvSpPr>
          <p:cNvPr id="5" name="q1 card text"/>
          <p:cNvSpPr txBox="1"/>
          <p:nvPr/>
        </p:nvSpPr>
        <p:spPr>
          <a:xfrm>
            <a:off x="5669280" y="1234440"/>
            <a:ext cx="2834640" cy="3200400"/>
          </a:xfrm>
          <a:prstGeom prst="rect">
            <a:avLst/>
          </a:prstGeom>
          <a:noFill/>
          <a:ln/>
        </p:spPr>
        <p:txBody>
          <a:bodyPr wrap="square" rtlCol="0" anchor="t"/>
          <a:lstStyle/>
          <a:p>
            <a:pPr indent="0" marL="0">
              <a:spcAft>
                <a:spcPts val="800"/>
              </a:spcAft>
              <a:buNone/>
            </a:pPr>
            <a:r>
              <a:rPr lang="en-US" sz="1500" b="1" dirty="0">
                <a:solidFill>
                  <a:schemeClr val="tx2"/>
                </a:solidFill>
              </a:rPr>
              <a:t>(3) Two-period check</a:t>
            </a:r>
            <a:endParaRPr lang="en-US" sz="1400" dirty="0"/>
          </a:p>
          <a:p>
            <a:pPr indent="0" marL="0">
              <a:spcAft>
                <a:spcPts val="800"/>
              </a:spcAft>
              <a:buNone/>
            </a:pPr>
            <a:r>
              <a:rPr lang="en-US" sz="1300" dirty="0">
                <a:solidFill>
                  <a:schemeClr val="tx1"/>
                </a:solidFill>
              </a:rPr>
              <a:t>q = 0.625</a:t>
            </a:r>
            <a:endParaRPr lang="en-US" sz="1400" dirty="0"/>
          </a:p>
          <a:p>
            <a:pPr indent="0" marL="0">
              <a:spcAft>
                <a:spcPts val="800"/>
              </a:spcAft>
              <a:buNone/>
            </a:pPr>
            <a:r>
              <a:rPr lang="en-US" sz="1300" dirty="0">
                <a:solidFill>
                  <a:schemeClr val="tx1"/>
                </a:solidFill>
              </a:rPr>
              <a:t>Up (120): C</a:t>
            </a:r>
            <a:pPr indent="0" marL="0">
              <a:spcAft>
                <a:spcPts val="800"/>
              </a:spcAft>
              <a:buNone/>
            </a:pPr>
            <a:r>
              <a:rPr lang="en-US" sz="1300" baseline="-40000" dirty="0">
                <a:solidFill>
                  <a:schemeClr val="tx1"/>
                </a:solidFill>
              </a:rPr>
              <a:t>1</a:t>
            </a:r>
            <a:pPr indent="0" marL="0">
              <a:spcAft>
                <a:spcPts val="800"/>
              </a:spcAft>
              <a:buNone/>
            </a:pPr>
            <a:r>
              <a:rPr lang="en-US" sz="1300" dirty="0">
                <a:solidFill>
                  <a:schemeClr val="tx1"/>
                </a:solidFill>
              </a:rPr>
              <a:t> = 1.43 &gt; g = 0 → continue</a:t>
            </a:r>
            <a:endParaRPr lang="en-US" sz="1400" dirty="0"/>
          </a:p>
          <a:p>
            <a:pPr indent="0" marL="0">
              <a:spcAft>
                <a:spcPts val="800"/>
              </a:spcAft>
              <a:buNone/>
            </a:pPr>
            <a:r>
              <a:rPr lang="en-US" sz="1300" dirty="0">
                <a:solidFill>
                  <a:schemeClr val="tx1"/>
                </a:solidFill>
              </a:rPr>
              <a:t>Down (80): C</a:t>
            </a:r>
            <a:pPr indent="0" marL="0">
              <a:spcAft>
                <a:spcPts val="800"/>
              </a:spcAft>
              <a:buNone/>
            </a:pPr>
            <a:r>
              <a:rPr lang="en-US" sz="1300" baseline="-40000" dirty="0">
                <a:solidFill>
                  <a:schemeClr val="tx1"/>
                </a:solidFill>
              </a:rPr>
              <a:t>1</a:t>
            </a:r>
            <a:pPr indent="0" marL="0">
              <a:spcAft>
                <a:spcPts val="800"/>
              </a:spcAft>
              <a:buNone/>
            </a:pPr>
            <a:r>
              <a:rPr lang="en-US" sz="1300" dirty="0">
                <a:solidFill>
                  <a:schemeClr val="tx1"/>
                </a:solidFill>
              </a:rPr>
              <a:t> = 15.24 &lt; g = 20 → exercise</a:t>
            </a:r>
            <a:endParaRPr lang="en-US" sz="1400" dirty="0"/>
          </a:p>
          <a:p>
            <a:pPr indent="0" marL="0">
              <a:spcAft>
                <a:spcPts val="800"/>
              </a:spcAft>
              <a:buNone/>
            </a:pPr>
            <a:r>
              <a:rPr lang="en-US" sz="1500" b="1" dirty="0">
                <a:solidFill>
                  <a:schemeClr val="accent1"/>
                </a:solidFill>
              </a:rPr>
              <a:t>V</a:t>
            </a:r>
            <a:pPr indent="0" marL="0">
              <a:spcAft>
                <a:spcPts val="800"/>
              </a:spcAft>
              <a:buNone/>
            </a:pPr>
            <a:r>
              <a:rPr lang="en-US" sz="1500" b="1" baseline="-40000" dirty="0">
                <a:solidFill>
                  <a:schemeClr val="accent1"/>
                </a:solidFill>
              </a:rPr>
              <a:t>0</a:t>
            </a:r>
            <a:pPr indent="0" marL="0">
              <a:spcAft>
                <a:spcPts val="800"/>
              </a:spcAft>
              <a:buNone/>
            </a:pPr>
            <a:r>
              <a:rPr lang="en-US" sz="1500" b="1" dirty="0">
                <a:solidFill>
                  <a:schemeClr val="accent1"/>
                </a:solidFill>
              </a:rPr>
              <a:t> = 7.9932</a:t>
            </a:r>
            <a:endParaRPr lang="en-US" sz="1400" dirty="0"/>
          </a:p>
          <a:p>
            <a:pPr indent="0" marL="0">
              <a:spcAft>
                <a:spcPts val="800"/>
              </a:spcAft>
              <a:buNone/>
            </a:pPr>
            <a:r>
              <a:rPr lang="en-US" sz="1200" dirty="0">
                <a:solidFill>
                  <a:schemeClr val="tx1"/>
                </a:solidFill>
              </a:rPr>
              <a:t>Why alive differs: down–up was already exercised at 80; up–down is still alive and pays 4 at the end</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algn="l" indent="0" marL="0">
              <a:buNone/>
            </a:pPr>
            <a:r>
              <a:rPr lang="en-US" sz="2600" b="1" dirty="0">
                <a:solidFill>
                  <a:schemeClr val="tx2"/>
                </a:solidFill>
              </a:rPr>
              <a:t>Q2: Longstaff–Schwartz</a:t>
            </a:r>
            <a:endParaRPr lang="en-US" sz="2600" dirty="0"/>
          </a:p>
        </p:txBody>
      </p:sp>
      <p:sp>
        <p:nvSpPr>
          <p:cNvPr id="3" name="q2 text"/>
          <p:cNvSpPr txBox="1"/>
          <p:nvPr/>
        </p:nvSpPr>
        <p:spPr>
          <a:xfrm>
            <a:off x="457200" y="1097280"/>
            <a:ext cx="4846320" cy="3566160"/>
          </a:xfrm>
          <a:prstGeom prst="rect">
            <a:avLst/>
          </a:prstGeom>
          <a:noFill/>
          <a:ln/>
        </p:spPr>
        <p:txBody>
          <a:bodyPr wrap="square" rtlCol="0" anchor="t"/>
          <a:lstStyle/>
          <a:p>
            <a:pPr indent="0" marL="0">
              <a:spcAft>
                <a:spcPts val="800"/>
              </a:spcAft>
              <a:buNone/>
            </a:pPr>
            <a:r>
              <a:rPr lang="en-US" sz="1300" b="1" dirty="0">
                <a:solidFill>
                  <a:srgbClr val="D9622B"/>
                </a:solidFill>
              </a:rPr>
              <a:t>(1)  </a:t>
            </a:r>
            <a:pPr indent="0" marL="0">
              <a:spcAft>
                <a:spcPts val="800"/>
              </a:spcAft>
              <a:buNone/>
            </a:pPr>
            <a:r>
              <a:rPr lang="en-US" sz="1300" dirty="0">
                <a:solidFill>
                  <a:schemeClr val="tx1"/>
                </a:solidFill>
              </a:rPr>
              <a:t>Backward over dates; fit on in-the-money paths only; then set τ̂ = n where rule (7) says exercise</a:t>
            </a:r>
            <a:endParaRPr lang="en-US" sz="1400" dirty="0"/>
          </a:p>
          <a:p>
            <a:pPr indent="0" marL="0">
              <a:spcAft>
                <a:spcPts val="800"/>
              </a:spcAft>
              <a:buNone/>
            </a:pPr>
            <a:r>
              <a:rPr lang="en-US" sz="1300" b="1" dirty="0">
                <a:solidFill>
                  <a:srgbClr val="D9622B"/>
                </a:solidFill>
              </a:rPr>
              <a:t>(2)  </a:t>
            </a:r>
            <a:pPr indent="0" marL="0">
              <a:spcAft>
                <a:spcPts val="800"/>
              </a:spcAft>
              <a:buNone/>
            </a:pPr>
            <a:r>
              <a:rPr lang="en-US" sz="1300" dirty="0">
                <a:solidFill>
                  <a:schemeClr val="tx1"/>
                </a:solidFill>
              </a:rPr>
              <a:t>Date 0: no regression, use the average cash flow; fitted value = max(average, g(S</a:t>
            </a:r>
            <a:pPr indent="0" marL="0">
              <a:spcAft>
                <a:spcPts val="800"/>
              </a:spcAft>
              <a:buNone/>
            </a:pPr>
            <a:r>
              <a:rPr lang="en-US" sz="1300" baseline="-40000" dirty="0">
                <a:solidFill>
                  <a:schemeClr val="tx1"/>
                </a:solidFill>
              </a:rPr>
              <a:t>0</a:t>
            </a:r>
            <a:pPr indent="0" marL="0">
              <a:spcAft>
                <a:spcPts val="800"/>
              </a:spcAft>
              <a:buNone/>
            </a:pPr>
            <a:r>
              <a:rPr lang="en-US" sz="1300" dirty="0">
                <a:solidFill>
                  <a:schemeClr val="tx1"/>
                </a:solidFill>
              </a:rPr>
              <a:t>))</a:t>
            </a:r>
            <a:endParaRPr lang="en-US" sz="1400" dirty="0"/>
          </a:p>
          <a:p>
            <a:pPr indent="0" marL="0">
              <a:spcAft>
                <a:spcPts val="800"/>
              </a:spcAft>
              <a:buNone/>
            </a:pPr>
            <a:r>
              <a:rPr lang="en-US" sz="1300" b="1" dirty="0">
                <a:solidFill>
                  <a:srgbClr val="D9622B"/>
                </a:solidFill>
              </a:rPr>
              <a:t>(3) Why cash flow  </a:t>
            </a:r>
            <a:pPr indent="0" marL="0">
              <a:spcAft>
                <a:spcPts val="800"/>
              </a:spcAft>
              <a:buNone/>
            </a:pPr>
            <a:r>
              <a:rPr lang="en-US" sz="1300" dirty="0">
                <a:solidFill>
                  <a:schemeClr val="tx1"/>
                </a:solidFill>
              </a:rPr>
              <a:t>one realized draw; its average given S</a:t>
            </a:r>
            <a:pPr indent="0" marL="0">
              <a:spcAft>
                <a:spcPts val="800"/>
              </a:spcAft>
              <a:buNone/>
            </a:pPr>
            <a:r>
              <a:rPr lang="en-US" sz="1300" baseline="-40000" dirty="0">
                <a:solidFill>
                  <a:schemeClr val="tx1"/>
                </a:solidFill>
              </a:rPr>
              <a:t>n</a:t>
            </a:r>
            <a:pPr indent="0" marL="0">
              <a:spcAft>
                <a:spcPts val="800"/>
              </a:spcAft>
              <a:buNone/>
            </a:pPr>
            <a:r>
              <a:rPr lang="en-US" sz="1300" dirty="0">
                <a:solidFill>
                  <a:schemeClr val="tx1"/>
                </a:solidFill>
              </a:rPr>
              <a:t> is the continuation value, so no fitted value is fed back</a:t>
            </a:r>
            <a:endParaRPr lang="en-US" sz="1400" dirty="0"/>
          </a:p>
          <a:p>
            <a:pPr indent="0" marL="0">
              <a:spcAft>
                <a:spcPts val="800"/>
              </a:spcAft>
              <a:buNone/>
            </a:pPr>
            <a:r>
              <a:rPr lang="en-US" sz="1300" b="1" dirty="0">
                <a:solidFill>
                  <a:srgbClr val="D9622B"/>
                </a:solidFill>
              </a:rPr>
              <a:t>(3) Why future  </a:t>
            </a:r>
            <a:pPr indent="0" marL="0">
              <a:spcAft>
                <a:spcPts val="800"/>
              </a:spcAft>
              <a:buNone/>
            </a:pPr>
            <a:r>
              <a:rPr lang="en-US" sz="1300" dirty="0">
                <a:solidFill>
                  <a:schemeClr val="tx1"/>
                </a:solidFill>
              </a:rPr>
              <a:t>allowed in training labels, but not in evaluation: that would be look-ahead</a:t>
            </a:r>
            <a:endParaRPr lang="en-US" sz="1400" dirty="0"/>
          </a:p>
          <a:p>
            <a:pPr indent="0" marL="0">
              <a:spcAft>
                <a:spcPts val="800"/>
              </a:spcAft>
              <a:buNone/>
            </a:pPr>
            <a:r>
              <a:rPr lang="en-US" sz="1300" b="1" dirty="0">
                <a:solidFill>
                  <a:srgbClr val="D9622B"/>
                </a:solidFill>
              </a:rPr>
              <a:t>(3) Why date n  </a:t>
            </a:r>
            <a:pPr indent="0" marL="0">
              <a:spcAft>
                <a:spcPts val="800"/>
              </a:spcAft>
              <a:buNone/>
            </a:pPr>
            <a:r>
              <a:rPr lang="en-US" sz="1300" dirty="0">
                <a:solidFill>
                  <a:schemeClr val="tx1"/>
                </a:solidFill>
              </a:rPr>
              <a:t>the response is compared with g(S</a:t>
            </a:r>
            <a:pPr indent="0" marL="0">
              <a:spcAft>
                <a:spcPts val="800"/>
              </a:spcAft>
              <a:buNone/>
            </a:pPr>
            <a:r>
              <a:rPr lang="en-US" sz="1300" baseline="-40000" dirty="0">
                <a:solidFill>
                  <a:schemeClr val="tx1"/>
                </a:solidFill>
              </a:rPr>
              <a:t>n</a:t>
            </a:r>
            <a:pPr indent="0" marL="0">
              <a:spcAft>
                <a:spcPts val="800"/>
              </a:spcAft>
              <a:buNone/>
            </a:pPr>
            <a:r>
              <a:rPr lang="en-US" sz="1300" dirty="0">
                <a:solidFill>
                  <a:schemeClr val="tx1"/>
                </a:solidFill>
              </a:rPr>
              <a:t>), paid at date n</a:t>
            </a:r>
            <a:endParaRPr lang="en-US" sz="1400" dirty="0"/>
          </a:p>
        </p:txBody>
      </p:sp>
      <p:sp>
        <p:nvSpPr>
          <p:cNvPr id="4" name="q2 card"/>
          <p:cNvSpPr/>
          <p:nvPr/>
        </p:nvSpPr>
        <p:spPr>
          <a:xfrm>
            <a:off x="5486400" y="1097280"/>
            <a:ext cx="3200400" cy="3474720"/>
          </a:xfrm>
          <a:prstGeom prst="roundRect">
            <a:avLst>
              <a:gd name="adj" fmla="val 2286"/>
            </a:avLst>
          </a:prstGeom>
          <a:solidFill>
            <a:schemeClr val="bg2"/>
          </a:solidFill>
          <a:ln w="12700">
            <a:solidFill>
              <a:schemeClr val="bg2"/>
            </a:solidFill>
            <a:prstDash val="solid"/>
          </a:ln>
        </p:spPr>
      </p:sp>
      <p:sp>
        <p:nvSpPr>
          <p:cNvPr id="5" name="q2 card text"/>
          <p:cNvSpPr txBox="1"/>
          <p:nvPr/>
        </p:nvSpPr>
        <p:spPr>
          <a:xfrm>
            <a:off x="5669280" y="1234440"/>
            <a:ext cx="2834640" cy="3200400"/>
          </a:xfrm>
          <a:prstGeom prst="rect">
            <a:avLst/>
          </a:prstGeom>
          <a:noFill/>
          <a:ln/>
        </p:spPr>
        <p:txBody>
          <a:bodyPr wrap="square" rtlCol="0" anchor="t"/>
          <a:lstStyle/>
          <a:p>
            <a:pPr indent="0" marL="0">
              <a:spcAft>
                <a:spcPts val="1000"/>
              </a:spcAft>
              <a:buNone/>
            </a:pPr>
            <a:r>
              <a:rPr lang="en-US" sz="1500" b="1" dirty="0">
                <a:solidFill>
                  <a:schemeClr val="tx2"/>
                </a:solidFill>
              </a:rPr>
              <a:t>Response (8)</a:t>
            </a:r>
            <a:endParaRPr lang="en-US" sz="1400" dirty="0"/>
          </a:p>
          <a:p>
            <a:pPr indent="0" marL="0">
              <a:spcAft>
                <a:spcPts val="1000"/>
              </a:spcAft>
              <a:buNone/>
            </a:pPr>
            <a:r>
              <a:rPr lang="en-US" sz="1700" dirty="0">
                <a:solidFill>
                  <a:schemeClr val="accent1"/>
                </a:solidFill>
              </a:rPr>
              <a:t>Y</a:t>
            </a:r>
            <a:pPr indent="0" marL="0">
              <a:spcAft>
                <a:spcPts val="1000"/>
              </a:spcAft>
              <a:buNone/>
            </a:pPr>
            <a:r>
              <a:rPr lang="en-US" sz="1700" baseline="-40000" dirty="0">
                <a:solidFill>
                  <a:schemeClr val="accent1"/>
                </a:solidFill>
              </a:rPr>
              <a:t>n</a:t>
            </a:r>
            <a:pPr indent="0" marL="0">
              <a:spcAft>
                <a:spcPts val="1000"/>
              </a:spcAft>
              <a:buNone/>
            </a:pPr>
            <a:r>
              <a:rPr lang="en-US" sz="1700" dirty="0">
                <a:solidFill>
                  <a:schemeClr val="accent1"/>
                </a:solidFill>
              </a:rPr>
              <a:t> = β</a:t>
            </a:r>
            <a:pPr indent="0" marL="0">
              <a:spcAft>
                <a:spcPts val="1000"/>
              </a:spcAft>
              <a:buNone/>
            </a:pPr>
            <a:r>
              <a:rPr lang="en-US" sz="1700" baseline="30000" dirty="0">
                <a:solidFill>
                  <a:schemeClr val="accent1"/>
                </a:solidFill>
              </a:rPr>
              <a:t>τ̂−n</a:t>
            </a:r>
            <a:pPr indent="0" marL="0">
              <a:spcAft>
                <a:spcPts val="1000"/>
              </a:spcAft>
              <a:buNone/>
            </a:pPr>
            <a:r>
              <a:rPr lang="en-US" sz="1700" dirty="0">
                <a:solidFill>
                  <a:schemeClr val="accent1"/>
                </a:solidFill>
              </a:rPr>
              <a:t> g(S</a:t>
            </a:r>
            <a:pPr indent="0" marL="0">
              <a:spcAft>
                <a:spcPts val="1000"/>
              </a:spcAft>
              <a:buNone/>
            </a:pPr>
            <a:r>
              <a:rPr lang="en-US" sz="1700" baseline="-40000" dirty="0">
                <a:solidFill>
                  <a:schemeClr val="accent1"/>
                </a:solidFill>
              </a:rPr>
              <a:t>τ̂</a:t>
            </a:r>
            <a:pPr indent="0" marL="0">
              <a:spcAft>
                <a:spcPts val="1000"/>
              </a:spcAft>
              <a:buNone/>
            </a:pPr>
            <a:r>
              <a:rPr lang="en-US" sz="1700" dirty="0">
                <a:solidFill>
                  <a:schemeClr val="accent1"/>
                </a:solidFill>
              </a:rPr>
              <a:t>)</a:t>
            </a:r>
            <a:endParaRPr lang="en-US" sz="1400" dirty="0"/>
          </a:p>
          <a:p>
            <a:pPr indent="0" marL="0">
              <a:spcAft>
                <a:spcPts val="1000"/>
              </a:spcAft>
              <a:buNone/>
            </a:pPr>
            <a:r>
              <a:rPr lang="en-US" sz="1200" dirty="0">
                <a:solidFill>
                  <a:schemeClr val="tx1"/>
                </a:solidFill>
              </a:rPr>
              <a:t>τ̂ = first exercise date of the already fitted future policy (starts at N)</a:t>
            </a:r>
            <a:endParaRPr lang="en-US" sz="1400" dirty="0"/>
          </a:p>
          <a:p>
            <a:pPr indent="0" marL="0">
              <a:spcAft>
                <a:spcPts val="1000"/>
              </a:spcAft>
              <a:buNone/>
            </a:pPr>
            <a:r>
              <a:rPr lang="en-US" sz="1100" dirty="0">
                <a:solidFill>
                  <a:schemeClr val="accent5"/>
                </a:solidFill>
              </a:rPr>
              <a:t>Both methods: basis 1, z, …, z</a:t>
            </a:r>
            <a:pPr indent="0" marL="0">
              <a:spcAft>
                <a:spcPts val="1000"/>
              </a:spcAft>
              <a:buNone/>
            </a:pPr>
            <a:r>
              <a:rPr lang="en-US" sz="1100" baseline="30000" dirty="0">
                <a:solidFill>
                  <a:schemeClr val="accent5"/>
                </a:solidFill>
              </a:rPr>
              <a:t>d</a:t>
            </a:r>
            <a:pPr indent="0" marL="0">
              <a:spcAft>
                <a:spcPts val="1000"/>
              </a:spcAft>
              <a:buNone/>
            </a:pPr>
            <a:r>
              <a:rPr lang="en-US" sz="1100" dirty="0">
                <a:solidFill>
                  <a:schemeClr val="accent5"/>
                </a:solidFill>
              </a:rPr>
              <a:t> with z = s/K − 1, d = 2, 4; least squares by lstsq; clip to [0, K]; exercise iff g &gt; 0 and g ≥ Ĉ</a:t>
            </a:r>
            <a:pPr indent="0" marL="0">
              <a:spcAft>
                <a:spcPts val="1000"/>
              </a:spcAft>
              <a:buNone/>
            </a:pPr>
            <a:r>
              <a:rPr lang="en-US" sz="1100" baseline="-40000" dirty="0">
                <a:solidFill>
                  <a:schemeClr val="accent5"/>
                </a:solidFill>
              </a:rPr>
              <a:t>n</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algn="l" indent="0" marL="0">
              <a:buNone/>
            </a:pPr>
            <a:r>
              <a:rPr lang="en-US" sz="2600" b="1" dirty="0">
                <a:solidFill>
                  <a:schemeClr val="tx2"/>
                </a:solidFill>
              </a:rPr>
              <a:t>Q3: fitted Q-learning</a:t>
            </a:r>
            <a:endParaRPr lang="en-US" sz="2600" dirty="0"/>
          </a:p>
        </p:txBody>
      </p:sp>
      <p:sp>
        <p:nvSpPr>
          <p:cNvPr id="3" name="q3 text"/>
          <p:cNvSpPr txBox="1"/>
          <p:nvPr/>
        </p:nvSpPr>
        <p:spPr>
          <a:xfrm>
            <a:off x="457200" y="1097280"/>
            <a:ext cx="4846320" cy="3566160"/>
          </a:xfrm>
          <a:prstGeom prst="rect">
            <a:avLst/>
          </a:prstGeom>
          <a:noFill/>
          <a:ln/>
        </p:spPr>
        <p:txBody>
          <a:bodyPr wrap="square" rtlCol="0" anchor="t"/>
          <a:lstStyle/>
          <a:p>
            <a:pPr indent="0" marL="0">
              <a:spcAft>
                <a:spcPts val="800"/>
              </a:spcAft>
              <a:buNone/>
            </a:pPr>
            <a:r>
              <a:rPr lang="en-US" sz="1300" b="1" dirty="0">
                <a:solidFill>
                  <a:srgbClr val="D9622B"/>
                </a:solidFill>
              </a:rPr>
              <a:t>(1)  </a:t>
            </a:r>
            <a:pPr indent="0" marL="0">
              <a:spcAft>
                <a:spcPts val="800"/>
              </a:spcAft>
              <a:buNone/>
            </a:pPr>
            <a:r>
              <a:rPr lang="en-US" sz="1300" dirty="0">
                <a:solidFill>
                  <a:schemeClr val="tx1"/>
                </a:solidFill>
              </a:rPr>
              <a:t>Backward over dates; fit on all paths; freeze V̂</a:t>
            </a:r>
            <a:pPr indent="0" marL="0">
              <a:spcAft>
                <a:spcPts val="800"/>
              </a:spcAft>
              <a:buNone/>
            </a:pPr>
            <a:r>
              <a:rPr lang="en-US" sz="1300" baseline="-40000" dirty="0">
                <a:solidFill>
                  <a:schemeClr val="tx1"/>
                </a:solidFill>
              </a:rPr>
              <a:t>n+1</a:t>
            </a:r>
            <a:pPr indent="0" marL="0">
              <a:spcAft>
                <a:spcPts val="800"/>
              </a:spcAft>
              <a:buNone/>
            </a:pPr>
            <a:r>
              <a:rPr lang="en-US" sz="1300" dirty="0">
                <a:solidFill>
                  <a:schemeClr val="tx1"/>
                </a:solidFill>
              </a:rPr>
              <a:t> before fitting date n</a:t>
            </a:r>
            <a:endParaRPr lang="en-US" sz="1400" dirty="0"/>
          </a:p>
          <a:p>
            <a:pPr indent="0" marL="0">
              <a:spcAft>
                <a:spcPts val="800"/>
              </a:spcAft>
              <a:buNone/>
            </a:pPr>
            <a:r>
              <a:rPr lang="en-US" sz="1300" b="1" dirty="0">
                <a:solidFill>
                  <a:srgbClr val="D9622B"/>
                </a:solidFill>
              </a:rPr>
              <a:t>(2)  </a:t>
            </a:r>
            <a:pPr indent="0" marL="0">
              <a:spcAft>
                <a:spcPts val="800"/>
              </a:spcAft>
              <a:buNone/>
            </a:pPr>
            <a:r>
              <a:rPr lang="en-US" sz="1300" dirty="0">
                <a:solidFill>
                  <a:schemeClr val="tx1"/>
                </a:solidFill>
              </a:rPr>
              <a:t>Date 0: clipped average of targets vs g(S</a:t>
            </a:r>
            <a:pPr indent="0" marL="0">
              <a:spcAft>
                <a:spcPts val="800"/>
              </a:spcAft>
              <a:buNone/>
            </a:pPr>
            <a:r>
              <a:rPr lang="en-US" sz="1300" baseline="-40000" dirty="0">
                <a:solidFill>
                  <a:schemeClr val="tx1"/>
                </a:solidFill>
              </a:rPr>
              <a:t>0</a:t>
            </a:r>
            <a:pPr indent="0" marL="0">
              <a:spcAft>
                <a:spcPts val="800"/>
              </a:spcAft>
              <a:buNone/>
            </a:pPr>
            <a:r>
              <a:rPr lang="en-US" sz="1300" dirty="0">
                <a:solidFill>
                  <a:schemeClr val="tx1"/>
                </a:solidFill>
              </a:rPr>
              <a:t>); actions from rule (7); evaluated on fresh paths</a:t>
            </a:r>
            <a:endParaRPr lang="en-US" sz="1400" dirty="0"/>
          </a:p>
          <a:p>
            <a:pPr indent="0" marL="0">
              <a:spcAft>
                <a:spcPts val="800"/>
              </a:spcAft>
              <a:buNone/>
            </a:pPr>
            <a:r>
              <a:rPr lang="en-US" sz="1300" b="1" dirty="0">
                <a:solidFill>
                  <a:srgbClr val="D9622B"/>
                </a:solidFill>
              </a:rPr>
              <a:t>(3) From (9)  </a:t>
            </a:r>
            <a:pPr indent="0" marL="0">
              <a:spcAft>
                <a:spcPts val="800"/>
              </a:spcAft>
              <a:buNone/>
            </a:pPr>
            <a:r>
              <a:rPr lang="en-US" sz="1300" dirty="0">
                <a:solidFill>
                  <a:schemeClr val="tx1"/>
                </a:solidFill>
              </a:rPr>
              <a:t>Q</a:t>
            </a:r>
            <a:pPr indent="0" marL="0">
              <a:spcAft>
                <a:spcPts val="800"/>
              </a:spcAft>
              <a:buNone/>
            </a:pPr>
            <a:r>
              <a:rPr lang="en-US" sz="1300" baseline="30000" dirty="0">
                <a:solidFill>
                  <a:schemeClr val="tx1"/>
                </a:solidFill>
              </a:rPr>
              <a:t>*</a:t>
            </a:r>
            <a:pPr indent="0" marL="0">
              <a:spcAft>
                <a:spcPts val="800"/>
              </a:spcAft>
              <a:buNone/>
            </a:pPr>
            <a:r>
              <a:rPr lang="en-US" sz="1300" dirty="0">
                <a:solidFill>
                  <a:schemeClr val="tx1"/>
                </a:solidFill>
              </a:rPr>
              <a:t>(continue) = β E[V</a:t>
            </a:r>
            <a:pPr indent="0" marL="0">
              <a:spcAft>
                <a:spcPts val="800"/>
              </a:spcAft>
              <a:buNone/>
            </a:pPr>
            <a:r>
              <a:rPr lang="en-US" sz="1300" baseline="30000" dirty="0">
                <a:solidFill>
                  <a:schemeClr val="tx1"/>
                </a:solidFill>
              </a:rPr>
              <a:t>*</a:t>
            </a:r>
            <a:pPr indent="0" marL="0">
              <a:spcAft>
                <a:spcPts val="800"/>
              </a:spcAft>
              <a:buNone/>
            </a:pPr>
            <a:r>
              <a:rPr lang="en-US" sz="1300" baseline="-40000" dirty="0">
                <a:solidFill>
                  <a:schemeClr val="tx1"/>
                </a:solidFill>
              </a:rPr>
              <a:t>n+1</a:t>
            </a:r>
            <a:pPr indent="0" marL="0">
              <a:spcAft>
                <a:spcPts val="800"/>
              </a:spcAft>
              <a:buNone/>
            </a:pPr>
            <a:r>
              <a:rPr lang="en-US" sz="1300" dirty="0">
                <a:solidFill>
                  <a:schemeClr val="tx1"/>
                </a:solidFill>
              </a:rPr>
              <a:t>]: replace V</a:t>
            </a:r>
            <a:pPr indent="0" marL="0">
              <a:spcAft>
                <a:spcPts val="800"/>
              </a:spcAft>
              <a:buNone/>
            </a:pPr>
            <a:r>
              <a:rPr lang="en-US" sz="1300" baseline="30000" dirty="0">
                <a:solidFill>
                  <a:schemeClr val="tx1"/>
                </a:solidFill>
              </a:rPr>
              <a:t>*</a:t>
            </a:r>
            <a:pPr indent="0" marL="0">
              <a:spcAft>
                <a:spcPts val="800"/>
              </a:spcAft>
              <a:buNone/>
            </a:pPr>
            <a:r>
              <a:rPr lang="en-US" sz="1300" dirty="0">
                <a:solidFill>
                  <a:schemeClr val="tx1"/>
                </a:solidFill>
              </a:rPr>
              <a:t> by V̂ and the expectation by regression</a:t>
            </a:r>
            <a:endParaRPr lang="en-US" sz="1400" dirty="0"/>
          </a:p>
          <a:p>
            <a:pPr indent="0" marL="0">
              <a:spcAft>
                <a:spcPts val="800"/>
              </a:spcAft>
              <a:buNone/>
            </a:pPr>
            <a:r>
              <a:rPr lang="en-US" sz="1300" b="1" dirty="0">
                <a:solidFill>
                  <a:srgbClr val="D9622B"/>
                </a:solidFill>
              </a:rPr>
              <a:t>(3) vs (8)  </a:t>
            </a:r>
            <a:pPr indent="0" marL="0">
              <a:spcAft>
                <a:spcPts val="800"/>
              </a:spcAft>
              <a:buNone/>
            </a:pPr>
            <a:r>
              <a:rPr lang="en-US" sz="1300" dirty="0">
                <a:solidFill>
                  <a:schemeClr val="tx1"/>
                </a:solidFill>
              </a:rPr>
              <a:t>one step realized, the rest estimated (V̂); in (8) the whole cash flow is realized</a:t>
            </a:r>
            <a:endParaRPr lang="en-US" sz="1400" dirty="0"/>
          </a:p>
          <a:p>
            <a:pPr indent="0" marL="0">
              <a:spcAft>
                <a:spcPts val="800"/>
              </a:spcAft>
              <a:buNone/>
            </a:pPr>
            <a:r>
              <a:rPr lang="en-US" sz="1300" b="1" dirty="0">
                <a:solidFill>
                  <a:srgbClr val="D9622B"/>
                </a:solidFill>
              </a:rPr>
              <a:t>(3) Why all paths  </a:t>
            </a:r>
            <a:pPr indent="0" marL="0">
              <a:spcAft>
                <a:spcPts val="800"/>
              </a:spcAft>
              <a:buNone/>
            </a:pPr>
            <a:r>
              <a:rPr lang="en-US" sz="1300" dirty="0">
                <a:solidFill>
                  <a:schemeClr val="tx1"/>
                </a:solidFill>
              </a:rPr>
              <a:t>an out-of-the-money stock can still fall below K, so V̂</a:t>
            </a:r>
            <a:pPr indent="0" marL="0">
              <a:spcAft>
                <a:spcPts val="800"/>
              </a:spcAft>
              <a:buNone/>
            </a:pPr>
            <a:r>
              <a:rPr lang="en-US" sz="1300" baseline="-40000" dirty="0">
                <a:solidFill>
                  <a:schemeClr val="tx1"/>
                </a:solidFill>
              </a:rPr>
              <a:t>n</a:t>
            </a:r>
            <a:pPr indent="0" marL="0">
              <a:spcAft>
                <a:spcPts val="800"/>
              </a:spcAft>
              <a:buNone/>
            </a:pPr>
            <a:r>
              <a:rPr lang="en-US" sz="1300" dirty="0">
                <a:solidFill>
                  <a:schemeClr val="tx1"/>
                </a:solidFill>
              </a:rPr>
              <a:t> = Ĉ</a:t>
            </a:r>
            <a:pPr indent="0" marL="0">
              <a:spcAft>
                <a:spcPts val="800"/>
              </a:spcAft>
              <a:buNone/>
            </a:pPr>
            <a:r>
              <a:rPr lang="en-US" sz="1300" baseline="-40000" dirty="0">
                <a:solidFill>
                  <a:schemeClr val="tx1"/>
                </a:solidFill>
              </a:rPr>
              <a:t>n</a:t>
            </a:r>
            <a:pPr indent="0" marL="0">
              <a:spcAft>
                <a:spcPts val="800"/>
              </a:spcAft>
              <a:buNone/>
            </a:pPr>
            <a:r>
              <a:rPr lang="en-US" sz="1300" dirty="0">
                <a:solidFill>
                  <a:schemeClr val="tx1"/>
                </a:solidFill>
              </a:rPr>
              <a:t> &gt; 0 there and feeds earlier targets</a:t>
            </a:r>
            <a:endParaRPr lang="en-US" sz="1400" dirty="0"/>
          </a:p>
        </p:txBody>
      </p:sp>
      <p:sp>
        <p:nvSpPr>
          <p:cNvPr id="4" name="q3 card"/>
          <p:cNvSpPr/>
          <p:nvPr/>
        </p:nvSpPr>
        <p:spPr>
          <a:xfrm>
            <a:off x="5486400" y="1097280"/>
            <a:ext cx="3200400" cy="3474720"/>
          </a:xfrm>
          <a:prstGeom prst="roundRect">
            <a:avLst>
              <a:gd name="adj" fmla="val 2286"/>
            </a:avLst>
          </a:prstGeom>
          <a:solidFill>
            <a:schemeClr val="bg2"/>
          </a:solidFill>
          <a:ln w="12700">
            <a:solidFill>
              <a:schemeClr val="bg2"/>
            </a:solidFill>
            <a:prstDash val="solid"/>
          </a:ln>
        </p:spPr>
      </p:sp>
      <p:sp>
        <p:nvSpPr>
          <p:cNvPr id="5" name="q3 card text"/>
          <p:cNvSpPr txBox="1"/>
          <p:nvPr/>
        </p:nvSpPr>
        <p:spPr>
          <a:xfrm>
            <a:off x="5669280" y="1234440"/>
            <a:ext cx="2834640" cy="3200400"/>
          </a:xfrm>
          <a:prstGeom prst="rect">
            <a:avLst/>
          </a:prstGeom>
          <a:noFill/>
          <a:ln/>
        </p:spPr>
        <p:txBody>
          <a:bodyPr wrap="square" rtlCol="0" anchor="t"/>
          <a:lstStyle/>
          <a:p>
            <a:pPr indent="0" marL="0">
              <a:spcAft>
                <a:spcPts val="1000"/>
              </a:spcAft>
              <a:buNone/>
            </a:pPr>
            <a:r>
              <a:rPr lang="en-US" sz="1500" b="1" dirty="0">
                <a:solidFill>
                  <a:schemeClr val="tx2"/>
                </a:solidFill>
              </a:rPr>
              <a:t>Targets (10)–(12)</a:t>
            </a:r>
            <a:endParaRPr lang="en-US" sz="1400" dirty="0"/>
          </a:p>
          <a:p>
            <a:pPr indent="0" marL="0">
              <a:spcAft>
                <a:spcPts val="1000"/>
              </a:spcAft>
              <a:buNone/>
            </a:pPr>
            <a:r>
              <a:rPr lang="en-US" sz="1500" dirty="0">
                <a:solidFill>
                  <a:schemeClr val="accent1"/>
                </a:solidFill>
              </a:rPr>
              <a:t>V̂</a:t>
            </a:r>
            <a:pPr indent="0" marL="0">
              <a:spcAft>
                <a:spcPts val="1000"/>
              </a:spcAft>
              <a:buNone/>
            </a:pPr>
            <a:r>
              <a:rPr lang="en-US" sz="1500" baseline="-40000" dirty="0">
                <a:solidFill>
                  <a:schemeClr val="accent1"/>
                </a:solidFill>
              </a:rPr>
              <a:t>N</a:t>
            </a:r>
            <a:pPr indent="0" marL="0">
              <a:spcAft>
                <a:spcPts val="1000"/>
              </a:spcAft>
              <a:buNone/>
            </a:pPr>
            <a:r>
              <a:rPr lang="en-US" sz="1500" dirty="0">
                <a:solidFill>
                  <a:schemeClr val="accent1"/>
                </a:solidFill>
              </a:rPr>
              <a:t> = g</a:t>
            </a:r>
            <a:endParaRPr lang="en-US" sz="1400" dirty="0"/>
          </a:p>
          <a:p>
            <a:pPr indent="0" marL="0">
              <a:spcAft>
                <a:spcPts val="1000"/>
              </a:spcAft>
              <a:buNone/>
            </a:pPr>
            <a:r>
              <a:rPr lang="en-US" sz="1500" dirty="0">
                <a:solidFill>
                  <a:schemeClr val="accent1"/>
                </a:solidFill>
              </a:rPr>
              <a:t>Y</a:t>
            </a:r>
            <a:pPr indent="0" marL="0">
              <a:spcAft>
                <a:spcPts val="1000"/>
              </a:spcAft>
              <a:buNone/>
            </a:pPr>
            <a:r>
              <a:rPr lang="en-US" sz="1500" baseline="-40000" dirty="0">
                <a:solidFill>
                  <a:schemeClr val="accent1"/>
                </a:solidFill>
              </a:rPr>
              <a:t>n</a:t>
            </a:r>
            <a:pPr indent="0" marL="0">
              <a:spcAft>
                <a:spcPts val="1000"/>
              </a:spcAft>
              <a:buNone/>
            </a:pPr>
            <a:r>
              <a:rPr lang="en-US" sz="1500" dirty="0">
                <a:solidFill>
                  <a:schemeClr val="accent1"/>
                </a:solidFill>
              </a:rPr>
              <a:t> = β V̂</a:t>
            </a:r>
            <a:pPr indent="0" marL="0">
              <a:spcAft>
                <a:spcPts val="1000"/>
              </a:spcAft>
              <a:buNone/>
            </a:pPr>
            <a:r>
              <a:rPr lang="en-US" sz="1500" baseline="-40000" dirty="0">
                <a:solidFill>
                  <a:schemeClr val="accent1"/>
                </a:solidFill>
              </a:rPr>
              <a:t>n+1</a:t>
            </a:r>
            <a:pPr indent="0" marL="0">
              <a:spcAft>
                <a:spcPts val="1000"/>
              </a:spcAft>
              <a:buNone/>
            </a:pPr>
            <a:r>
              <a:rPr lang="en-US" sz="1500" dirty="0">
                <a:solidFill>
                  <a:schemeClr val="accent1"/>
                </a:solidFill>
              </a:rPr>
              <a:t>(S</a:t>
            </a:r>
            <a:pPr indent="0" marL="0">
              <a:spcAft>
                <a:spcPts val="1000"/>
              </a:spcAft>
              <a:buNone/>
            </a:pPr>
            <a:r>
              <a:rPr lang="en-US" sz="1500" baseline="-40000" dirty="0">
                <a:solidFill>
                  <a:schemeClr val="accent1"/>
                </a:solidFill>
              </a:rPr>
              <a:t>n+1</a:t>
            </a:r>
            <a:pPr indent="0" marL="0">
              <a:spcAft>
                <a:spcPts val="1000"/>
              </a:spcAft>
              <a:buNone/>
            </a:pPr>
            <a:r>
              <a:rPr lang="en-US" sz="1500" dirty="0">
                <a:solidFill>
                  <a:schemeClr val="accent1"/>
                </a:solidFill>
              </a:rPr>
              <a:t>)</a:t>
            </a:r>
            <a:endParaRPr lang="en-US" sz="1400" dirty="0"/>
          </a:p>
          <a:p>
            <a:pPr indent="0" marL="0">
              <a:spcAft>
                <a:spcPts val="1000"/>
              </a:spcAft>
              <a:buNone/>
            </a:pPr>
            <a:r>
              <a:rPr lang="en-US" sz="1500" dirty="0">
                <a:solidFill>
                  <a:schemeClr val="accent1"/>
                </a:solidFill>
              </a:rPr>
              <a:t>V̂</a:t>
            </a:r>
            <a:pPr indent="0" marL="0">
              <a:spcAft>
                <a:spcPts val="1000"/>
              </a:spcAft>
              <a:buNone/>
            </a:pPr>
            <a:r>
              <a:rPr lang="en-US" sz="1500" baseline="-40000" dirty="0">
                <a:solidFill>
                  <a:schemeClr val="accent1"/>
                </a:solidFill>
              </a:rPr>
              <a:t>n</a:t>
            </a:r>
            <a:pPr indent="0" marL="0">
              <a:spcAft>
                <a:spcPts val="1000"/>
              </a:spcAft>
              <a:buNone/>
            </a:pPr>
            <a:r>
              <a:rPr lang="en-US" sz="1500" dirty="0">
                <a:solidFill>
                  <a:schemeClr val="accent1"/>
                </a:solidFill>
              </a:rPr>
              <a:t> = max(g, Ĉ</a:t>
            </a:r>
            <a:pPr indent="0" marL="0">
              <a:spcAft>
                <a:spcPts val="1000"/>
              </a:spcAft>
              <a:buNone/>
            </a:pPr>
            <a:r>
              <a:rPr lang="en-US" sz="1500" baseline="-40000" dirty="0">
                <a:solidFill>
                  <a:schemeClr val="accent1"/>
                </a:solidFill>
              </a:rPr>
              <a:t>n</a:t>
            </a:r>
            <a:pPr indent="0" marL="0">
              <a:spcAft>
                <a:spcPts val="1000"/>
              </a:spcAft>
              <a:buNone/>
            </a:pPr>
            <a:r>
              <a:rPr lang="en-US" sz="1500" dirty="0">
                <a:solidFill>
                  <a:schemeClr val="accent1"/>
                </a:solidFill>
              </a:rPr>
              <a:t>)</a:t>
            </a:r>
            <a:endParaRPr lang="en-US" sz="1400" dirty="0"/>
          </a:p>
          <a:p>
            <a:pPr indent="0" marL="0">
              <a:spcAft>
                <a:spcPts val="1000"/>
              </a:spcAft>
              <a:buNone/>
            </a:pPr>
            <a:r>
              <a:rPr lang="en-US" sz="1200" dirty="0">
                <a:solidFill>
                  <a:schemeClr val="tx1"/>
                </a:solidFill>
              </a:rPr>
              <a:t>Errors in V̂ and the max carry back through all dates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algn="l" indent="0" marL="0">
              <a:buNone/>
            </a:pPr>
            <a:r>
              <a:rPr lang="en-US" sz="2600" b="1" dirty="0">
                <a:solidFill>
                  <a:schemeClr val="tx2"/>
                </a:solidFill>
              </a:rPr>
              <a:t>Q4 (1): checks and the twelve policies</a:t>
            </a:r>
            <a:endParaRPr lang="en-US" sz="2600" dirty="0"/>
          </a:p>
        </p:txBody>
      </p:sp>
      <p:graphicFrame>
        <p:nvGraphicFramePr>
          <p:cNvPr id="6" name="results table"/>
          <p:cNvGraphicFramePr>
            <a:graphicFrameLocks noGrp="1"/>
          </p:cNvGraphicFramePr>
          <p:nvPr>
            <p:extLst>
              <p:ext uri="{D42A27DB-BD31-4B8C-83A1-F6EECF244321}">
                <p14:modId xmlns:p14="http://schemas.microsoft.com/office/powerpoint/2010/main" val="1579011935"/>
              </p:ext>
            </p:extLst>
          </p:nvPr>
        </p:nvGraphicFramePr>
        <p:xfrm>
          <a:off x="457200" y="1097280"/>
          <a:ext cx="4937760" cy="914400"/>
        </p:xfrm>
        <a:graphic>
          <a:graphicData uri="http://schemas.openxmlformats.org/drawingml/2006/table">
            <a:tbl>
              <a:tblPr/>
              <a:tblGrid>
                <a:gridCol w="1097280"/>
                <a:gridCol w="1097280"/>
                <a:gridCol w="914400"/>
                <a:gridCol w="914400"/>
                <a:gridCol w="914400"/>
              </a:tblGrid>
              <a:tr h="292608">
                <a:tc>
                  <a:txBody>
                    <a:bodyPr/>
                    <a:lstStyle/>
                    <a:p>
                      <a:pPr indent="0" marL="0">
                        <a:buNone/>
                      </a:pPr>
                      <a:r>
                        <a:rPr lang="en-US" sz="1200" b="1" dirty="0">
                          <a:solidFill>
                            <a:schemeClr val="tx2"/>
                          </a:solidFill>
                        </a:rPr>
                        <a:t>policy</a:t>
                      </a:r>
                      <a:endParaRPr lang="en-US" sz="1200" dirty="0"/>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2"/>
                    </a:solidFill>
                  </a:tcPr>
                </a:tc>
                <a:tc>
                  <a:txBody>
                    <a:bodyPr/>
                    <a:lstStyle/>
                    <a:p>
                      <a:pPr indent="0" marL="0">
                        <a:buNone/>
                      </a:pPr>
                      <a:r>
                        <a:rPr lang="en-US" sz="1200" b="1" dirty="0">
                          <a:solidFill>
                            <a:schemeClr val="tx2"/>
                          </a:solidFill>
                        </a:rPr>
                        <a:t>fitted V₀</a:t>
                      </a:r>
                      <a:endParaRPr lang="en-US" sz="1200" dirty="0"/>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2"/>
                    </a:solidFill>
                  </a:tcPr>
                </a:tc>
                <a:tc>
                  <a:txBody>
                    <a:bodyPr/>
                    <a:lstStyle/>
                    <a:p>
                      <a:pPr indent="0" marL="0">
                        <a:buNone/>
                      </a:pPr>
                      <a:r>
                        <a:rPr lang="en-US" sz="1200" b="1" dirty="0">
                          <a:solidFill>
                            <a:schemeClr val="tx2"/>
                          </a:solidFill>
                        </a:rPr>
                        <a:t>seed 17</a:t>
                      </a:r>
                      <a:endParaRPr lang="en-US" sz="1200" dirty="0"/>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2"/>
                    </a:solidFill>
                  </a:tcPr>
                </a:tc>
                <a:tc>
                  <a:txBody>
                    <a:bodyPr/>
                    <a:lstStyle/>
                    <a:p>
                      <a:pPr indent="0" marL="0">
                        <a:buNone/>
                      </a:pPr>
                      <a:r>
                        <a:rPr lang="en-US" sz="1200" b="1" dirty="0">
                          <a:solidFill>
                            <a:schemeClr val="tx2"/>
                          </a:solidFill>
                        </a:rPr>
                        <a:t>seed 29</a:t>
                      </a:r>
                      <a:endParaRPr lang="en-US" sz="1200" dirty="0"/>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2"/>
                    </a:solidFill>
                  </a:tcPr>
                </a:tc>
                <a:tc>
                  <a:txBody>
                    <a:bodyPr/>
                    <a:lstStyle/>
                    <a:p>
                      <a:pPr indent="0" marL="0">
                        <a:buNone/>
                      </a:pPr>
                      <a:r>
                        <a:rPr lang="en-US" sz="1200" b="1" dirty="0">
                          <a:solidFill>
                            <a:schemeClr val="tx2"/>
                          </a:solidFill>
                        </a:rPr>
                        <a:t>seed 43</a:t>
                      </a:r>
                      <a:endParaRPr lang="en-US" sz="1200" dirty="0"/>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2"/>
                    </a:solidFill>
                  </a:tcPr>
                </a:tc>
              </a:tr>
              <a:tr h="292608">
                <a:tc>
                  <a:txBody>
                    <a:bodyPr/>
                    <a:lstStyle/>
                    <a:p>
                      <a:pPr indent="0" marL="0">
                        <a:buNone/>
                      </a:pPr>
                      <a:r>
                        <a:rPr lang="en-US" sz="1200" dirty="0">
                          <a:solidFill>
                            <a:schemeClr val="tx1"/>
                          </a:solidFill>
                        </a:rPr>
                        <a:t>LSM, d = 2</a:t>
                      </a:r>
                      <a:endParaRPr lang="en-US" sz="1200" dirty="0"/>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indent="0" marL="0">
                        <a:buNone/>
                      </a:pPr>
                      <a:r>
                        <a:rPr lang="en-US" sz="1200" dirty="0">
                          <a:solidFill>
                            <a:schemeClr val="tx1"/>
                          </a:solidFill>
                        </a:rPr>
                        <a:t>5.98–6.10</a:t>
                      </a:r>
                      <a:endParaRPr lang="en-US" sz="1200" dirty="0"/>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indent="0" marL="0">
                        <a:buNone/>
                      </a:pPr>
                      <a:r>
                        <a:rPr lang="en-US" sz="1200" dirty="0">
                          <a:solidFill>
                            <a:schemeClr val="tx1"/>
                          </a:solidFill>
                        </a:rPr>
                        <a:t>6.059</a:t>
                      </a:r>
                      <a:endParaRPr lang="en-US" sz="1200" dirty="0"/>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indent="0" marL="0">
                        <a:buNone/>
                      </a:pPr>
                      <a:r>
                        <a:rPr lang="en-US" sz="1200" dirty="0">
                          <a:solidFill>
                            <a:schemeClr val="tx1"/>
                          </a:solidFill>
                        </a:rPr>
                        <a:t>6.052</a:t>
                      </a:r>
                      <a:endParaRPr lang="en-US" sz="1200" dirty="0"/>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indent="0" marL="0">
                        <a:buNone/>
                      </a:pPr>
                      <a:r>
                        <a:rPr lang="en-US" sz="1200" dirty="0">
                          <a:solidFill>
                            <a:schemeClr val="tx1"/>
                          </a:solidFill>
                        </a:rPr>
                        <a:t>6.056</a:t>
                      </a:r>
                      <a:endParaRPr lang="en-US" sz="1200" dirty="0"/>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292608">
                <a:tc>
                  <a:txBody>
                    <a:bodyPr/>
                    <a:lstStyle/>
                    <a:p>
                      <a:pPr indent="0" marL="0">
                        <a:buNone/>
                      </a:pPr>
                      <a:r>
                        <a:rPr lang="en-US" sz="1200" dirty="0">
                          <a:solidFill>
                            <a:schemeClr val="tx1"/>
                          </a:solidFill>
                        </a:rPr>
                        <a:t>FQ, d = 2</a:t>
                      </a:r>
                      <a:endParaRPr lang="en-US" sz="1200" dirty="0"/>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indent="0" marL="0">
                        <a:buNone/>
                      </a:pPr>
                      <a:r>
                        <a:rPr lang="en-US" sz="1200" dirty="0">
                          <a:solidFill>
                            <a:schemeClr val="tx1"/>
                          </a:solidFill>
                        </a:rPr>
                        <a:t>7.85–7.95</a:t>
                      </a:r>
                      <a:endParaRPr lang="en-US" sz="1200" dirty="0"/>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indent="0" marL="0">
                        <a:buNone/>
                      </a:pPr>
                      <a:r>
                        <a:rPr lang="en-US" sz="1200" dirty="0">
                          <a:solidFill>
                            <a:schemeClr val="tx1"/>
                          </a:solidFill>
                        </a:rPr>
                        <a:t>5.852</a:t>
                      </a:r>
                      <a:endParaRPr lang="en-US" sz="1200" dirty="0"/>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indent="0" marL="0">
                        <a:buNone/>
                      </a:pPr>
                      <a:r>
                        <a:rPr lang="en-US" sz="1200" dirty="0">
                          <a:solidFill>
                            <a:schemeClr val="tx1"/>
                          </a:solidFill>
                        </a:rPr>
                        <a:t>5.851</a:t>
                      </a:r>
                      <a:endParaRPr lang="en-US" sz="1200" dirty="0"/>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indent="0" marL="0">
                        <a:buNone/>
                      </a:pPr>
                      <a:r>
                        <a:rPr lang="en-US" sz="1200" dirty="0">
                          <a:solidFill>
                            <a:schemeClr val="tx1"/>
                          </a:solidFill>
                        </a:rPr>
                        <a:t>5.849</a:t>
                      </a:r>
                      <a:endParaRPr lang="en-US" sz="1200" dirty="0"/>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292608">
                <a:tc>
                  <a:txBody>
                    <a:bodyPr/>
                    <a:lstStyle/>
                    <a:p>
                      <a:pPr indent="0" marL="0">
                        <a:buNone/>
                      </a:pPr>
                      <a:r>
                        <a:rPr lang="en-US" sz="1200" dirty="0">
                          <a:solidFill>
                            <a:schemeClr val="tx1"/>
                          </a:solidFill>
                        </a:rPr>
                        <a:t>LSM, d = 4</a:t>
                      </a:r>
                      <a:endParaRPr lang="en-US" sz="1200" dirty="0"/>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indent="0" marL="0">
                        <a:buNone/>
                      </a:pPr>
                      <a:r>
                        <a:rPr lang="en-US" sz="1200" dirty="0">
                          <a:solidFill>
                            <a:schemeClr val="tx1"/>
                          </a:solidFill>
                        </a:rPr>
                        <a:t>5.99–6.10</a:t>
                      </a:r>
                      <a:endParaRPr lang="en-US" sz="1200" dirty="0"/>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indent="0" marL="0">
                        <a:buNone/>
                      </a:pPr>
                      <a:r>
                        <a:rPr lang="en-US" sz="1200" dirty="0">
                          <a:solidFill>
                            <a:schemeClr val="tx1"/>
                          </a:solidFill>
                        </a:rPr>
                        <a:t>6.078</a:t>
                      </a:r>
                      <a:endParaRPr lang="en-US" sz="1200" dirty="0"/>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indent="0" marL="0">
                        <a:buNone/>
                      </a:pPr>
                      <a:r>
                        <a:rPr lang="en-US" sz="1200" dirty="0">
                          <a:solidFill>
                            <a:schemeClr val="tx1"/>
                          </a:solidFill>
                        </a:rPr>
                        <a:t>6.070</a:t>
                      </a:r>
                      <a:endParaRPr lang="en-US" sz="1200" dirty="0"/>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indent="0" marL="0">
                        <a:buNone/>
                      </a:pPr>
                      <a:r>
                        <a:rPr lang="en-US" sz="1200" dirty="0">
                          <a:solidFill>
                            <a:schemeClr val="tx1"/>
                          </a:solidFill>
                        </a:rPr>
                        <a:t>6.077</a:t>
                      </a:r>
                      <a:endParaRPr lang="en-US" sz="1200" dirty="0"/>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292608">
                <a:tc>
                  <a:txBody>
                    <a:bodyPr/>
                    <a:lstStyle/>
                    <a:p>
                      <a:pPr indent="0" marL="0">
                        <a:buNone/>
                      </a:pPr>
                      <a:r>
                        <a:rPr lang="en-US" sz="1200" dirty="0">
                          <a:solidFill>
                            <a:schemeClr val="tx1"/>
                          </a:solidFill>
                        </a:rPr>
                        <a:t>FQ, d = 4</a:t>
                      </a:r>
                      <a:endParaRPr lang="en-US" sz="1200" dirty="0"/>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indent="0" marL="0">
                        <a:buNone/>
                      </a:pPr>
                      <a:r>
                        <a:rPr lang="en-US" sz="1200" dirty="0">
                          <a:solidFill>
                            <a:schemeClr val="tx1"/>
                          </a:solidFill>
                        </a:rPr>
                        <a:t>6.90–7.01</a:t>
                      </a:r>
                      <a:endParaRPr lang="en-US" sz="1200" dirty="0"/>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indent="0" marL="0">
                        <a:buNone/>
                      </a:pPr>
                      <a:r>
                        <a:rPr lang="en-US" sz="1200" dirty="0">
                          <a:solidFill>
                            <a:schemeClr val="tx1"/>
                          </a:solidFill>
                        </a:rPr>
                        <a:t>6.019</a:t>
                      </a:r>
                      <a:endParaRPr lang="en-US" sz="1200" dirty="0"/>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indent="0" marL="0">
                        <a:buNone/>
                      </a:pPr>
                      <a:r>
                        <a:rPr lang="en-US" sz="1200" dirty="0">
                          <a:solidFill>
                            <a:schemeClr val="tx1"/>
                          </a:solidFill>
                        </a:rPr>
                        <a:t>6.005</a:t>
                      </a:r>
                      <a:endParaRPr lang="en-US" sz="1200" dirty="0"/>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indent="0" marL="0">
                        <a:buNone/>
                      </a:pPr>
                      <a:r>
                        <a:rPr lang="en-US" sz="1200" dirty="0">
                          <a:solidFill>
                            <a:schemeClr val="tx1"/>
                          </a:solidFill>
                        </a:rPr>
                        <a:t>5.978</a:t>
                      </a:r>
                      <a:endParaRPr lang="en-US" sz="1200" dirty="0"/>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bl>
          </a:graphicData>
        </a:graphic>
      </p:graphicFrame>
      <p:sp>
        <p:nvSpPr>
          <p:cNvPr id="4" name="table note"/>
          <p:cNvSpPr txBox="1"/>
          <p:nvPr/>
        </p:nvSpPr>
        <p:spPr>
          <a:xfrm>
            <a:off x="457200" y="2697480"/>
            <a:ext cx="4937760" cy="457200"/>
          </a:xfrm>
          <a:prstGeom prst="rect">
            <a:avLst/>
          </a:prstGeom>
          <a:noFill/>
          <a:ln/>
        </p:spPr>
        <p:txBody>
          <a:bodyPr wrap="square" rtlCol="0" anchor="t"/>
          <a:lstStyle/>
          <a:p>
            <a:pPr indent="0" marL="0">
              <a:spcAft>
                <a:spcPts val="700"/>
              </a:spcAft>
              <a:buNone/>
            </a:pPr>
            <a:r>
              <a:rPr lang="en-US" sz="1100" dirty="0">
                <a:solidFill>
                  <a:schemeClr val="accent5"/>
                </a:solidFill>
              </a:rPr>
              <a:t>Independent policy values (100,000 evaluation paths, SE ≈ 0.02–0.03). Benchmark 6.0786.</a:t>
            </a:r>
            <a:endParaRPr lang="en-US" sz="1400" dirty="0"/>
          </a:p>
        </p:txBody>
      </p:sp>
      <p:sp>
        <p:nvSpPr>
          <p:cNvPr id="5" name="why text"/>
          <p:cNvSpPr txBox="1"/>
          <p:nvPr/>
        </p:nvSpPr>
        <p:spPr>
          <a:xfrm>
            <a:off x="457200" y="3200400"/>
            <a:ext cx="4937760" cy="1371600"/>
          </a:xfrm>
          <a:prstGeom prst="rect">
            <a:avLst/>
          </a:prstGeom>
          <a:noFill/>
          <a:ln/>
        </p:spPr>
        <p:txBody>
          <a:bodyPr wrap="square" rtlCol="0" anchor="t"/>
          <a:lstStyle/>
          <a:p>
            <a:pPr indent="0" marL="0">
              <a:spcAft>
                <a:spcPts val="700"/>
              </a:spcAft>
              <a:buNone/>
            </a:pPr>
            <a:r>
              <a:rPr lang="en-US" sz="1200" b="1" dirty="0">
                <a:solidFill>
                  <a:srgbClr val="D9622B"/>
                </a:solidFill>
              </a:rPr>
              <a:t>Why  </a:t>
            </a:r>
            <a:pPr indent="0" marL="0">
              <a:spcAft>
                <a:spcPts val="700"/>
              </a:spcAft>
              <a:buNone/>
            </a:pPr>
            <a:r>
              <a:rPr lang="en-US" sz="1200" dirty="0">
                <a:solidFill>
                  <a:schemeClr val="tx1"/>
                </a:solidFill>
              </a:rPr>
              <a:t>FQ fitted values are far above its policy values (≈ 35–80 SE): regression errors and the max carry back through all dates; not Monte Carlo noise</a:t>
            </a:r>
            <a:endParaRPr lang="en-US" sz="1400" dirty="0"/>
          </a:p>
        </p:txBody>
      </p:sp>
      <p:sp>
        <p:nvSpPr>
          <p:cNvPr id="6" name="checks card"/>
          <p:cNvSpPr/>
          <p:nvPr/>
        </p:nvSpPr>
        <p:spPr>
          <a:xfrm>
            <a:off x="5577840" y="1097280"/>
            <a:ext cx="3108960" cy="3474720"/>
          </a:xfrm>
          <a:prstGeom prst="roundRect">
            <a:avLst>
              <a:gd name="adj" fmla="val 2353"/>
            </a:avLst>
          </a:prstGeom>
          <a:solidFill>
            <a:schemeClr val="bg2"/>
          </a:solidFill>
          <a:ln w="12700">
            <a:solidFill>
              <a:schemeClr val="bg2"/>
            </a:solidFill>
            <a:prstDash val="solid"/>
          </a:ln>
        </p:spPr>
      </p:sp>
      <p:sp>
        <p:nvSpPr>
          <p:cNvPr id="7" name="checks text"/>
          <p:cNvSpPr txBox="1"/>
          <p:nvPr/>
        </p:nvSpPr>
        <p:spPr>
          <a:xfrm>
            <a:off x="5715000" y="1234440"/>
            <a:ext cx="2834640" cy="3200400"/>
          </a:xfrm>
          <a:prstGeom prst="rect">
            <a:avLst/>
          </a:prstGeom>
          <a:noFill/>
          <a:ln/>
        </p:spPr>
        <p:txBody>
          <a:bodyPr wrap="square" rtlCol="0" anchor="t"/>
          <a:lstStyle/>
          <a:p>
            <a:pPr indent="0" marL="0">
              <a:spcAft>
                <a:spcPts val="700"/>
              </a:spcAft>
              <a:buNone/>
            </a:pPr>
            <a:r>
              <a:rPr lang="en-US" sz="1500" b="1" dirty="0">
                <a:solidFill>
                  <a:schemeClr val="tx2"/>
                </a:solidFill>
              </a:rPr>
              <a:t>Checks</a:t>
            </a:r>
            <a:endParaRPr lang="en-US" sz="1400" dirty="0"/>
          </a:p>
          <a:p>
            <a:pPr indent="0" marL="0">
              <a:spcAft>
                <a:spcPts val="700"/>
              </a:spcAft>
              <a:buNone/>
            </a:pPr>
            <a:r>
              <a:rPr lang="en-US" sz="1200" b="1" dirty="0">
                <a:solidFill>
                  <a:srgbClr val="D9622B"/>
                </a:solidFill>
              </a:rPr>
              <a:t>Two-period:  </a:t>
            </a:r>
            <a:pPr indent="0" marL="0">
              <a:spcAft>
                <a:spcPts val="700"/>
              </a:spcAft>
              <a:buNone/>
            </a:pPr>
            <a:r>
              <a:rPr lang="en-US" sz="1200" dirty="0">
                <a:solidFill>
                  <a:schemeClr val="tx1"/>
                </a:solidFill>
              </a:rPr>
              <a:t>evaluator gives 7.9932 = V</a:t>
            </a:r>
            <a:pPr indent="0" marL="0">
              <a:spcAft>
                <a:spcPts val="700"/>
              </a:spcAft>
              <a:buNone/>
            </a:pPr>
            <a:r>
              <a:rPr lang="en-US" sz="1200" baseline="-40000" dirty="0">
                <a:solidFill>
                  <a:schemeClr val="tx1"/>
                </a:solidFill>
              </a:rPr>
              <a:t>0</a:t>
            </a:r>
            <a:endParaRPr lang="en-US" sz="1400" dirty="0"/>
          </a:p>
          <a:p>
            <a:pPr indent="0" marL="0">
              <a:spcAft>
                <a:spcPts val="700"/>
              </a:spcAft>
              <a:buNone/>
            </a:pPr>
            <a:r>
              <a:rPr lang="en-US" sz="1200" b="1" dirty="0">
                <a:solidFill>
                  <a:srgbClr val="D9622B"/>
                </a:solidFill>
              </a:rPr>
              <a:t>European:  </a:t>
            </a:r>
            <a:pPr indent="0" marL="0">
              <a:spcAft>
                <a:spcPts val="700"/>
              </a:spcAft>
              <a:buNone/>
            </a:pPr>
            <a:r>
              <a:rPr lang="en-US" sz="1200" dirty="0">
                <a:solidFill>
                  <a:schemeClr val="tx1"/>
                </a:solidFill>
              </a:rPr>
              <a:t>5.588 vs Black–Scholes 5.574 (z = 0.51)</a:t>
            </a:r>
            <a:endParaRPr lang="en-US" sz="1400" dirty="0"/>
          </a:p>
          <a:p>
            <a:pPr indent="0" marL="0">
              <a:spcAft>
                <a:spcPts val="700"/>
              </a:spcAft>
              <a:buNone/>
            </a:pPr>
            <a:r>
              <a:rPr lang="en-US" sz="1200" b="1" dirty="0">
                <a:solidFill>
                  <a:srgbClr val="D9622B"/>
                </a:solidFill>
              </a:rPr>
              <a:t>Reference:  </a:t>
            </a:r>
            <a:pPr indent="0" marL="0">
              <a:spcAft>
                <a:spcPts val="700"/>
              </a:spcAft>
              <a:buNone/>
            </a:pPr>
            <a:r>
              <a:rPr lang="en-US" sz="1200" dirty="0">
                <a:solidFill>
                  <a:schemeClr val="tx1"/>
                </a:solidFill>
              </a:rPr>
              <a:t>our CRR tree reproduces 6.0784 (2500 steps)</a:t>
            </a:r>
            <a:endParaRPr lang="en-US" sz="1400" dirty="0"/>
          </a:p>
          <a:p>
            <a:pPr indent="0" marL="0">
              <a:spcAft>
                <a:spcPts val="700"/>
              </a:spcAft>
              <a:buNone/>
            </a:pPr>
            <a:r>
              <a:rPr lang="en-US" sz="1200" b="1" dirty="0">
                <a:solidFill>
                  <a:srgbClr val="D9622B"/>
                </a:solidFill>
              </a:rPr>
              <a:t>Below bound:  </a:t>
            </a:r>
            <a:pPr indent="0" marL="0">
              <a:spcAft>
                <a:spcPts val="700"/>
              </a:spcAft>
              <a:buNone/>
            </a:pPr>
            <a:r>
              <a:rPr lang="en-US" sz="1200" dirty="0">
                <a:solidFill>
                  <a:schemeClr val="tx1"/>
                </a:solidFill>
              </a:rPr>
              <a:t>all 12 policy values are below the benchmark</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algn="l" indent="0" marL="0">
              <a:buNone/>
            </a:pPr>
            <a:r>
              <a:rPr lang="en-US" sz="2600" b="1" dirty="0">
                <a:solidFill>
                  <a:schemeClr val="tx2"/>
                </a:solidFill>
              </a:rPr>
              <a:t>Q4 (2)–(3): paired differences and decisions</a:t>
            </a:r>
            <a:endParaRPr lang="en-US" sz="2600" dirty="0"/>
          </a:p>
        </p:txBody>
      </p:sp>
      <p:sp>
        <p:nvSpPr>
          <p:cNvPr id="3" name="paired text"/>
          <p:cNvSpPr txBox="1"/>
          <p:nvPr/>
        </p:nvSpPr>
        <p:spPr>
          <a:xfrm>
            <a:off x="457200" y="1097280"/>
            <a:ext cx="4206240" cy="3566160"/>
          </a:xfrm>
          <a:prstGeom prst="rect">
            <a:avLst/>
          </a:prstGeom>
          <a:noFill/>
          <a:ln/>
        </p:spPr>
        <p:txBody>
          <a:bodyPr wrap="square" rtlCol="0" anchor="t"/>
          <a:lstStyle/>
          <a:p>
            <a:pPr indent="0" marL="0">
              <a:spcAft>
                <a:spcPts val="600"/>
              </a:spcAft>
              <a:buNone/>
            </a:pPr>
            <a:r>
              <a:rPr lang="en-US" sz="1300" b="1" dirty="0">
                <a:solidFill>
                  <a:srgbClr val="D9622B"/>
                </a:solidFill>
              </a:rPr>
              <a:t>(2)  </a:t>
            </a:r>
            <a:pPr indent="0" marL="0">
              <a:spcAft>
                <a:spcPts val="600"/>
              </a:spcAft>
              <a:buNone/>
            </a:pPr>
            <a:r>
              <a:rPr lang="en-US" sz="1300" dirty="0">
                <a:solidFill>
                  <a:schemeClr val="tx1"/>
                </a:solidFill>
              </a:rPr>
              <a:t>FQ − LSM, d = 2: -0.21, -0.20, -0.21</a:t>
            </a:r>
            <a:endParaRPr lang="en-US" sz="1400" dirty="0"/>
          </a:p>
          <a:p>
            <a:pPr indent="0" marL="0">
              <a:spcAft>
                <a:spcPts val="600"/>
              </a:spcAft>
              <a:buNone/>
            </a:pPr>
            <a:r>
              <a:rPr lang="en-US" sz="1300" b="1" dirty="0">
                <a:solidFill>
                  <a:srgbClr val="D9622B"/>
                </a:solidFill>
              </a:rPr>
              <a:t>(2)  </a:t>
            </a:r>
            <a:pPr indent="0" marL="0">
              <a:spcAft>
                <a:spcPts val="600"/>
              </a:spcAft>
              <a:buNone/>
            </a:pPr>
            <a:r>
              <a:rPr lang="en-US" sz="1300" dirty="0">
                <a:solidFill>
                  <a:schemeClr val="tx1"/>
                </a:solidFill>
              </a:rPr>
              <a:t>FQ − LSM, d = 4: -0.06, -0.06, -0.10</a:t>
            </a:r>
            <a:endParaRPr lang="en-US" sz="1400" dirty="0"/>
          </a:p>
          <a:p>
            <a:pPr indent="0" marL="0">
              <a:spcAft>
                <a:spcPts val="600"/>
              </a:spcAft>
              <a:buNone/>
            </a:pPr>
            <a:r>
              <a:rPr lang="en-US" sz="1300" b="1" dirty="0">
                <a:solidFill>
                  <a:srgbClr val="D9622B"/>
                </a:solidFill>
              </a:rPr>
              <a:t>(2)  </a:t>
            </a:r>
            <a:pPr indent="0" marL="0">
              <a:spcAft>
                <a:spcPts val="600"/>
              </a:spcAft>
              <a:buNone/>
            </a:pPr>
            <a:r>
              <a:rPr lang="en-US" sz="1300" dirty="0">
                <a:solidFill>
                  <a:schemeClr val="tx1"/>
                </a:solidFill>
              </a:rPr>
              <a:t>All six 95% CIs are below 0: LSM is better</a:t>
            </a:r>
            <a:endParaRPr lang="en-US" sz="1400" dirty="0"/>
          </a:p>
          <a:p>
            <a:pPr indent="0" marL="0">
              <a:spcAft>
                <a:spcPts val="600"/>
              </a:spcAft>
              <a:buNone/>
            </a:pPr>
            <a:r>
              <a:rPr lang="en-US" sz="1300" b="1" dirty="0">
                <a:solidFill>
                  <a:srgbClr val="D9622B"/>
                </a:solidFill>
              </a:rPr>
              <a:t>Why paired  </a:t>
            </a:r>
            <a:pPr indent="0" marL="0">
              <a:spcAft>
                <a:spcPts val="600"/>
              </a:spcAft>
              <a:buNone/>
            </a:pPr>
            <a:r>
              <a:rPr lang="en-US" sz="1300" dirty="0">
                <a:solidFill>
                  <a:schemeClr val="tx1"/>
                </a:solidFill>
              </a:rPr>
              <a:t>same evaluation paths cancel common noise (SE 0.009–0.015 vs ≈ 0.034 unpaired)</a:t>
            </a:r>
            <a:endParaRPr lang="en-US" sz="1400" dirty="0"/>
          </a:p>
          <a:p>
            <a:pPr indent="0" marL="0">
              <a:spcAft>
                <a:spcPts val="600"/>
              </a:spcAft>
              <a:buNone/>
            </a:pPr>
            <a:r>
              <a:rPr lang="en-US" sz="1300" b="1" dirty="0">
                <a:solidFill>
                  <a:srgbClr val="D9622B"/>
                </a:solidFill>
              </a:rPr>
              <a:t>(2)–(3)  </a:t>
            </a:r>
            <a:pPr indent="0" marL="0">
              <a:spcAft>
                <a:spcPts val="600"/>
              </a:spcAft>
              <a:buNone/>
            </a:pPr>
            <a:r>
              <a:rPr lang="en-US" sz="1300" dirty="0">
                <a:solidFill>
                  <a:schemeClr val="tx1"/>
                </a:solidFill>
              </a:rPr>
              <a:t>degree 4 narrows the gap and raises both methods' policy values, much more for FQ</a:t>
            </a:r>
            <a:endParaRPr lang="en-US" sz="1400" dirty="0"/>
          </a:p>
          <a:p>
            <a:pPr indent="0" marL="0">
              <a:spcAft>
                <a:spcPts val="600"/>
              </a:spcAft>
              <a:buNone/>
            </a:pPr>
            <a:r>
              <a:rPr lang="en-US" sz="1300" b="1" dirty="0">
                <a:solidFill>
                  <a:srgbClr val="D9622B"/>
                </a:solidFill>
              </a:rPr>
              <a:t>Why small  </a:t>
            </a:r>
            <a:pPr indent="0" marL="0">
              <a:spcAft>
                <a:spcPts val="600"/>
              </a:spcAft>
              <a:buNone/>
            </a:pPr>
            <a:r>
              <a:rPr lang="en-US" sz="1300" dirty="0">
                <a:solidFill>
                  <a:schemeClr val="tx1"/>
                </a:solidFill>
              </a:rPr>
              <a:t>near the crossing g ≈ C, a wrong decision loses only |g − C| ≈ 0</a:t>
            </a:r>
            <a:endParaRPr lang="en-US" sz="1400" dirty="0"/>
          </a:p>
        </p:txBody>
      </p:sp>
      <p:pic>
        <p:nvPicPr>
          <p:cNvPr id="4" name="n25 figure" descr="/home/claude/mth9821-hw3/slides/n25_decisions.png">    </p:cNvPr>
          <p:cNvPicPr>
            <a:picLocks noChangeAspect="1"/>
          </p:cNvPicPr>
          <p:nvPr/>
        </p:nvPicPr>
        <p:blipFill>
          <a:blip r:embed="rId1"/>
          <a:stretch>
            <a:fillRect/>
          </a:stretch>
        </p:blipFill>
        <p:spPr>
          <a:xfrm>
            <a:off x="4754880" y="1051560"/>
            <a:ext cx="4023360" cy="2533602"/>
          </a:xfrm>
          <a:prstGeom prst="rect">
            <a:avLst/>
          </a:prstGeom>
        </p:spPr>
      </p:pic>
      <p:sp>
        <p:nvSpPr>
          <p:cNvPr id="5" name="fig caption"/>
          <p:cNvSpPr txBox="1"/>
          <p:nvPr/>
        </p:nvSpPr>
        <p:spPr>
          <a:xfrm>
            <a:off x="4754880" y="3703320"/>
            <a:ext cx="4023360" cy="548640"/>
          </a:xfrm>
          <a:prstGeom prst="rect">
            <a:avLst/>
          </a:prstGeom>
          <a:noFill/>
          <a:ln/>
        </p:spPr>
        <p:txBody>
          <a:bodyPr wrap="square" rtlCol="0" anchor="t"/>
          <a:lstStyle/>
          <a:p>
            <a:pPr indent="0" marL="0">
              <a:spcAft>
                <a:spcPts val="700"/>
              </a:spcAft>
              <a:buNone/>
            </a:pPr>
            <a:r>
              <a:rPr lang="en-US" sz="1000" dirty="0">
                <a:solidFill>
                  <a:schemeClr val="accent5"/>
                </a:solidFill>
              </a:rPr>
              <a:t>Seed 17, n = 25. Exercise for s ≤ 85.4 (LSM d = 2), 84.5 (LSM d = 4), 82.6 (FQ d = 4); FQ d = 2 never exercises</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algn="l" indent="0" marL="0">
              <a:buNone/>
            </a:pPr>
            <a:r>
              <a:rPr lang="en-US" sz="2600" b="1" dirty="0">
                <a:solidFill>
                  <a:schemeClr val="tx2"/>
                </a:solidFill>
              </a:rPr>
              <a:t>Q4 (4): what the evidence supports</a:t>
            </a:r>
            <a:endParaRPr lang="en-US" sz="2600" dirty="0"/>
          </a:p>
        </p:txBody>
      </p:sp>
      <p:sp>
        <p:nvSpPr>
          <p:cNvPr id="3" name="q4d text"/>
          <p:cNvSpPr txBox="1"/>
          <p:nvPr/>
        </p:nvSpPr>
        <p:spPr>
          <a:xfrm>
            <a:off x="457200" y="1097280"/>
            <a:ext cx="8229600" cy="2468880"/>
          </a:xfrm>
          <a:prstGeom prst="rect">
            <a:avLst/>
          </a:prstGeom>
          <a:noFill/>
          <a:ln/>
        </p:spPr>
        <p:txBody>
          <a:bodyPr wrap="square" rtlCol="0" anchor="t"/>
          <a:lstStyle/>
          <a:p>
            <a:pPr indent="0" marL="0">
              <a:spcAft>
                <a:spcPts val="800"/>
              </a:spcAft>
              <a:buNone/>
            </a:pPr>
            <a:r>
              <a:rPr lang="en-US" sz="1400" b="1" dirty="0">
                <a:solidFill>
                  <a:srgbClr val="D9622B"/>
                </a:solidFill>
              </a:rPr>
              <a:t>Bound  </a:t>
            </a:r>
            <a:pPr indent="0" marL="0">
              <a:spcAft>
                <a:spcPts val="800"/>
              </a:spcAft>
              <a:buNone/>
            </a:pPr>
            <a:r>
              <a:rPr lang="en-US" sz="1400" dirty="0">
                <a:solidFill>
                  <a:schemeClr val="tx1"/>
                </a:solidFill>
              </a:rPr>
              <a:t>Given the training data, a frozen policy is admissible, so E[H | data] ≤ V</a:t>
            </a:r>
            <a:pPr indent="0" marL="0">
              <a:spcAft>
                <a:spcPts val="800"/>
              </a:spcAft>
              <a:buNone/>
            </a:pPr>
            <a:r>
              <a:rPr lang="en-US" sz="1400" baseline="30000" dirty="0">
                <a:solidFill>
                  <a:schemeClr val="tx1"/>
                </a:solidFill>
              </a:rPr>
              <a:t>*</a:t>
            </a:r>
            <a:pPr indent="0" marL="0">
              <a:spcAft>
                <a:spcPts val="800"/>
              </a:spcAft>
              <a:buNone/>
            </a:pPr>
            <a:r>
              <a:rPr lang="en-US" sz="1400" baseline="-40000" dirty="0">
                <a:solidFill>
                  <a:schemeClr val="tx1"/>
                </a:solidFill>
              </a:rPr>
              <a:t>0</a:t>
            </a:r>
            <a:pPr indent="0" marL="0">
              <a:spcAft>
                <a:spcPts val="800"/>
              </a:spcAft>
              <a:buNone/>
            </a:pPr>
            <a:r>
              <a:rPr lang="en-US" sz="1400" dirty="0">
                <a:solidFill>
                  <a:schemeClr val="tx1"/>
                </a:solidFill>
              </a:rPr>
              <a:t> ≈ 6.079 (Part 1)</a:t>
            </a:r>
            <a:endParaRPr lang="en-US" sz="1400" dirty="0"/>
          </a:p>
          <a:p>
            <a:pPr indent="0" marL="0">
              <a:spcAft>
                <a:spcPts val="800"/>
              </a:spcAft>
              <a:buNone/>
            </a:pPr>
            <a:r>
              <a:rPr lang="en-US" sz="1400" b="1" dirty="0">
                <a:solidFill>
                  <a:srgbClr val="D9622B"/>
                </a:solidFill>
              </a:rPr>
              <a:t>Test means  </a:t>
            </a:r>
            <a:pPr indent="0" marL="0">
              <a:spcAft>
                <a:spcPts val="800"/>
              </a:spcAft>
              <a:buNone/>
            </a:pPr>
            <a:r>
              <a:rPr lang="en-US" sz="1400" dirty="0">
                <a:solidFill>
                  <a:schemeClr val="tx1"/>
                </a:solidFill>
              </a:rPr>
              <a:t>can still exceed V</a:t>
            </a:r>
            <a:pPr indent="0" marL="0">
              <a:spcAft>
                <a:spcPts val="800"/>
              </a:spcAft>
              <a:buNone/>
            </a:pPr>
            <a:r>
              <a:rPr lang="en-US" sz="1400" baseline="30000" dirty="0">
                <a:solidFill>
                  <a:schemeClr val="tx1"/>
                </a:solidFill>
              </a:rPr>
              <a:t>*</a:t>
            </a:r>
            <a:pPr indent="0" marL="0">
              <a:spcAft>
                <a:spcPts val="800"/>
              </a:spcAft>
              <a:buNone/>
            </a:pPr>
            <a:r>
              <a:rPr lang="en-US" sz="1400" baseline="-40000" dirty="0">
                <a:solidFill>
                  <a:schemeClr val="tx1"/>
                </a:solidFill>
              </a:rPr>
              <a:t>0</a:t>
            </a:r>
            <a:pPr indent="0" marL="0">
              <a:spcAft>
                <a:spcPts val="800"/>
              </a:spcAft>
              <a:buNone/>
            </a:pPr>
            <a:r>
              <a:rPr lang="en-US" sz="1400" dirty="0">
                <a:solidFill>
                  <a:schemeClr val="tx1"/>
                </a:solidFill>
              </a:rPr>
              <a:t> by noise (about one SE ≈ 0.02)</a:t>
            </a:r>
            <a:endParaRPr lang="en-US" sz="1400" dirty="0"/>
          </a:p>
          <a:p>
            <a:pPr indent="0" marL="0">
              <a:spcAft>
                <a:spcPts val="800"/>
              </a:spcAft>
              <a:buNone/>
            </a:pPr>
            <a:r>
              <a:rPr lang="en-US" sz="1400" b="1" dirty="0">
                <a:solidFill>
                  <a:srgbClr val="D9622B"/>
                </a:solidFill>
              </a:rPr>
              <a:t>Fitted values  </a:t>
            </a:r>
            <a:pPr indent="0" marL="0">
              <a:spcAft>
                <a:spcPts val="800"/>
              </a:spcAft>
              <a:buNone/>
            </a:pPr>
            <a:r>
              <a:rPr lang="en-US" sz="1400" dirty="0">
                <a:solidFill>
                  <a:schemeClr val="tx1"/>
                </a:solidFill>
              </a:rPr>
              <a:t>are not payoffs of a policy: LSM is in-sample, FQ has max and basis bias, so neither must be below V</a:t>
            </a:r>
            <a:pPr indent="0" marL="0">
              <a:spcAft>
                <a:spcPts val="800"/>
              </a:spcAft>
              <a:buNone/>
            </a:pPr>
            <a:r>
              <a:rPr lang="en-US" sz="1400" baseline="30000" dirty="0">
                <a:solidFill>
                  <a:schemeClr val="tx1"/>
                </a:solidFill>
              </a:rPr>
              <a:t>*</a:t>
            </a:r>
            <a:pPr indent="0" marL="0">
              <a:spcAft>
                <a:spcPts val="800"/>
              </a:spcAft>
              <a:buNone/>
            </a:pPr>
            <a:r>
              <a:rPr lang="en-US" sz="1400" baseline="-40000" dirty="0">
                <a:solidFill>
                  <a:schemeClr val="tx1"/>
                </a:solidFill>
              </a:rPr>
              <a:t>0</a:t>
            </a:r>
            <a:endParaRPr lang="en-US" sz="1400" dirty="0"/>
          </a:p>
          <a:p>
            <a:pPr indent="0" marL="0">
              <a:spcAft>
                <a:spcPts val="800"/>
              </a:spcAft>
              <a:buNone/>
            </a:pPr>
            <a:r>
              <a:rPr lang="en-US" sz="1400" b="1" dirty="0">
                <a:solidFill>
                  <a:srgbClr val="D9622B"/>
                </a:solidFill>
              </a:rPr>
              <a:t>SE measures  </a:t>
            </a:r>
            <a:pPr indent="0" marL="0">
              <a:spcAft>
                <a:spcPts val="800"/>
              </a:spcAft>
              <a:buNone/>
            </a:pPr>
            <a:r>
              <a:rPr lang="en-US" sz="1400" dirty="0">
                <a:solidFill>
                  <a:schemeClr val="tx1"/>
                </a:solidFill>
              </a:rPr>
              <a:t>only evaluation Monte Carlo noise for a fixed policy</a:t>
            </a:r>
            <a:endParaRPr lang="en-US" sz="1400" dirty="0"/>
          </a:p>
          <a:p>
            <a:pPr indent="0" marL="0">
              <a:spcAft>
                <a:spcPts val="800"/>
              </a:spcAft>
              <a:buNone/>
            </a:pPr>
            <a:r>
              <a:rPr lang="en-US" sz="1400" b="1" dirty="0">
                <a:solidFill>
                  <a:srgbClr val="D9622B"/>
                </a:solidFill>
              </a:rPr>
              <a:t>SE omits  </a:t>
            </a:r>
            <a:pPr indent="0" marL="0">
              <a:spcAft>
                <a:spcPts val="800"/>
              </a:spcAft>
              <a:buNone/>
            </a:pPr>
            <a:r>
              <a:rPr lang="en-US" sz="1400" dirty="0">
                <a:solidFill>
                  <a:schemeClr val="tx1"/>
                </a:solidFill>
              </a:rPr>
              <a:t>training-seed variation, basis/degree error, and reference error</a:t>
            </a:r>
            <a:endParaRPr lang="en-US" sz="1400" dirty="0"/>
          </a:p>
        </p:txBody>
      </p:sp>
      <p:sp>
        <p:nvSpPr>
          <p:cNvPr id="4" name="takeaway card"/>
          <p:cNvSpPr/>
          <p:nvPr/>
        </p:nvSpPr>
        <p:spPr>
          <a:xfrm>
            <a:off x="457200" y="3657600"/>
            <a:ext cx="8229600" cy="960120"/>
          </a:xfrm>
          <a:prstGeom prst="roundRect">
            <a:avLst>
              <a:gd name="adj" fmla="val 7619"/>
            </a:avLst>
          </a:prstGeom>
          <a:solidFill>
            <a:schemeClr val="bg2"/>
          </a:solidFill>
          <a:ln w="12700">
            <a:solidFill>
              <a:schemeClr val="bg2"/>
            </a:solidFill>
            <a:prstDash val="solid"/>
          </a:ln>
        </p:spPr>
      </p:sp>
      <p:sp>
        <p:nvSpPr>
          <p:cNvPr id="5" name="takeaway text"/>
          <p:cNvSpPr txBox="1"/>
          <p:nvPr/>
        </p:nvSpPr>
        <p:spPr>
          <a:xfrm>
            <a:off x="640080" y="3730752"/>
            <a:ext cx="7863840" cy="822960"/>
          </a:xfrm>
          <a:prstGeom prst="rect">
            <a:avLst/>
          </a:prstGeom>
          <a:noFill/>
          <a:ln/>
        </p:spPr>
        <p:txBody>
          <a:bodyPr wrap="square" rtlCol="0" anchor="ctr"/>
          <a:lstStyle/>
          <a:p>
            <a:pPr indent="0" marL="0">
              <a:spcAft>
                <a:spcPts val="700"/>
              </a:spcAft>
              <a:buNone/>
            </a:pPr>
            <a:r>
              <a:rPr lang="en-US" sz="1300" dirty="0">
                <a:solidFill>
                  <a:schemeClr val="tx2"/>
                </a:solidFill>
              </a:rPr>
              <a:t>Result: LSM d = 4 is within 0.009 of the benchmark for every seed; fitted Q is lower in all six paired comparisons, and its fitted values overstate what its policies earn.</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American Put">
  <a:themeElements>
    <a:clrScheme name="American Put">
      <a:dk1>
        <a:srgbClr val="1E2328"/>
      </a:dk1>
      <a:lt1>
        <a:srgbClr val="FFFFFF"/>
      </a:lt1>
      <a:dk2>
        <a:srgbClr val="23313D"/>
      </a:dk2>
      <a:lt2>
        <a:srgbClr val="EEF2F4"/>
      </a:lt2>
      <a:accent1>
        <a:srgbClr val="D9622B"/>
      </a:accent1>
      <a:accent2>
        <a:srgbClr val="2F7D8C"/>
      </a:accent2>
      <a:accent3>
        <a:srgbClr val="8FA3AE"/>
      </a:accent3>
      <a:accent4>
        <a:srgbClr val="E9B44C"/>
      </a:accent4>
      <a:accent5>
        <a:srgbClr val="5B6770"/>
      </a:accent5>
      <a:accent6>
        <a:srgbClr val="B23A48"/>
      </a:accent6>
      <a:hlink>
        <a:srgbClr val="2F7D8C"/>
      </a:hlink>
      <a:folHlink>
        <a:srgbClr val="5B6770"/>
      </a:folHlink>
    </a:clrScheme>
    <a:fontScheme name="American Pu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American options: policy evaluation and fitted Q-learning</dc:title>
  <dc:subject>PptxGenJS Presentation</dc:subject>
  <dc:creator>Team 9</dc:creator>
  <cp:lastModifiedBy>Team 9</cp:lastModifiedBy>
  <cp:revision>1</cp:revision>
  <dcterms:created xsi:type="dcterms:W3CDTF">2026-10-19T16:43:14Z</dcterms:created>
  <dcterms:modified xsi:type="dcterms:W3CDTF">2026-10-19T16:43:14Z</dcterms:modified>
</cp:coreProperties>
</file>