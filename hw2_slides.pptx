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98d4379-bc66-38cc-8252-1ba2055ef098}">
          <p14:sldIdLst>
            <p14:sldId id="256"/>
          </p14:sldIdLst>
        </p14:section>
        <p14:section name="Setup" id="{bb59dd1d-2ad6-58c9-98f3-931a42979e1f}">
          <p14:sldIdLst>
            <p14:sldId id="257"/>
          </p14:sldIdLst>
        </p14:section>
        <p14:section name="Methods" id="{4e5c476d-c848-620b-b396-44fcd506b00c}">
          <p14:sldIdLst>
            <p14:sldId id="258"/>
          </p14:sldIdLst>
        </p14:section>
        <p14:section name="Results" id="{6366478d-590f-f58a-28b0-82c7d577da2d}">
          <p14:sldIdLst>
            <p14:sldId id="259"/>
            <p14:sldId id="260"/>
          </p14:sldIdLst>
        </p14:section>
        <p14:section name="Close" id="{49e856a5-2b4c-ca03-b11c-a7d4fde7656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313D"/>
                </a:solidFill>
                <a:latin typeface="+mn-lt"/>
              </a:defRPr>
            </a:pPr>
            <a:r>
              <a:rPr sz="1200" b="0" i="0" u="none" strike="noStrike">
                <a:solidFill>
                  <a:srgbClr val="23313D"/>
                </a:solidFill>
                <a:latin typeface="+mn-lt"/>
              </a:rPr>
              <a:t>Relative to plain MC (plain = 1)</a:t>
            </a:r>
          </a:p>
        </c:rich>
      </c:tx>
      <c:layout/>
      <c:overlay val="0"/>
    </c:title>
    <c:autoTitleDeleted val="0"/>
    <c:plotArea>
      <c:layout/>
      <c:barChart>
        <c:barDir val="col"/>
        <c:grouping val="clustered"/>
        <c:varyColors val="0"/>
        <c:ser>
          <c:idx val="0"/>
          <c:order val="0"/>
          <c:tx>
            <c:strRef>
              <c:f>Sheet1!$B$1</c:f>
              <c:strCache>
                <c:ptCount val="1"/>
                <c:pt idx="0">
                  <c:v>VRF</c:v>
                </c:pt>
              </c:strCache>
            </c:strRef>
          </c:tx>
          <c:spPr>
            <a:solidFill>
              <a:srgbClr val="2F7D8C"/>
            </a:solidFill>
            <a:effectLst/>
          </c:spPr>
          <c:invertIfNegative val="0"/>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CV</c:v>
                  </c:pt>
                  <c:pt idx="1">
                    <c:v>AV</c:v>
                  </c:pt>
                  <c:pt idx="2">
                    <c:v>AV+CV</c:v>
                  </c:pt>
                </c:lvl>
              </c:multiLvlStrCache>
            </c:multiLvlStrRef>
          </c:cat>
          <c:val>
            <c:numRef>
              <c:f>Sheet1!$B$2:$B$4</c:f>
              <c:numCache>
                <c:formatCode>General</c:formatCode>
                <c:ptCount val="3"/>
                <c:pt idx="0">
                  <c:v>3.16</c:v>
                </c:pt>
                <c:pt idx="1">
                  <c:v>1.37</c:v>
                </c:pt>
                <c:pt idx="2">
                  <c:v>2.99</c:v>
                </c:pt>
              </c:numCache>
            </c:numRef>
          </c:val>
        </c:ser>
        <c:ser>
          <c:idx val="1"/>
          <c:order val="1"/>
          <c:tx>
            <c:strRef>
              <c:f>Sheet1!$C$1</c:f>
              <c:strCache>
                <c:ptCount val="1"/>
                <c:pt idx="0">
                  <c:v>Gain</c:v>
                </c:pt>
              </c:strCache>
            </c:strRef>
          </c:tx>
          <c:spPr>
            <a:solidFill>
              <a:srgbClr val="D9622B"/>
            </a:solidFill>
            <a:effectLst/>
          </c:spPr>
          <c:invertIfNegative val="0"/>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CV</c:v>
                  </c:pt>
                  <c:pt idx="1">
                    <c:v>AV</c:v>
                  </c:pt>
                  <c:pt idx="2">
                    <c:v>AV+CV</c:v>
                  </c:pt>
                </c:lvl>
              </c:multiLvlStrCache>
            </c:multiLvlStrRef>
          </c:cat>
          <c:val>
            <c:numRef>
              <c:f>Sheet1!$C$2:$C$4</c:f>
              <c:numCache>
                <c:formatCode>General</c:formatCode>
                <c:ptCount val="3"/>
                <c:pt idx="0">
                  <c:v>2.32</c:v>
                </c:pt>
                <c:pt idx="1">
                  <c:v>1.86</c:v>
                </c:pt>
                <c:pt idx="2">
                  <c:v>2.82</c:v>
                </c:pt>
              </c:numCache>
            </c:numRef>
          </c:val>
        </c:ser>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7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313D"/>
                </a:solidFill>
                <a:latin typeface="+mn-lt"/>
              </a:defRPr>
            </a:pPr>
            <a:r>
              <a:rPr sz="1200" b="0" i="0" u="none" strike="noStrike">
                <a:solidFill>
                  <a:srgbClr val="23313D"/>
                </a:solidFill>
                <a:latin typeface="+mn-lt"/>
              </a:rPr>
              <a:t>VRF; one parameter changed at a time</a:t>
            </a:r>
          </a:p>
        </c:rich>
      </c:tx>
      <c:layout/>
      <c:overlay val="0"/>
    </c:title>
    <c:autoTitleDeleted val="0"/>
    <c:plotArea>
      <c:layout/>
      <c:barChart>
        <c:barDir val="col"/>
        <c:grouping val="clustered"/>
        <c:varyColors val="0"/>
        <c:ser>
          <c:idx val="0"/>
          <c:order val="0"/>
          <c:tx>
            <c:strRef>
              <c:f>Sheet1!$B$1</c:f>
              <c:strCache>
                <c:ptCount val="1"/>
                <c:pt idx="0">
                  <c:v>CV</c:v>
                </c:pt>
              </c:strCache>
            </c:strRef>
          </c:tx>
          <c:spPr>
            <a:solidFill>
              <a:srgbClr val="2F7D8C"/>
            </a:solidFill>
            <a:effectLst/>
          </c:spPr>
          <c:invertIfNegative val="0"/>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c:v>
                  </c:pt>
                  <c:pt idx="1">
                    <c:v>η = 0.5</c:v>
                  </c:pt>
                  <c:pt idx="2">
                    <c:v>H = 0.4</c:v>
                  </c:pt>
                </c:lvl>
              </c:multiLvlStrCache>
            </c:multiLvlStrRef>
          </c:cat>
          <c:val>
            <c:numRef>
              <c:f>Sheet1!$B$2:$B$4</c:f>
              <c:numCache>
                <c:formatCode>General</c:formatCode>
                <c:ptCount val="3"/>
                <c:pt idx="0">
                  <c:v>3.2</c:v>
                </c:pt>
                <c:pt idx="1">
                  <c:v>20.4</c:v>
                </c:pt>
                <c:pt idx="2">
                  <c:v>7.1</c:v>
                </c:pt>
              </c:numCache>
            </c:numRef>
          </c:val>
        </c:ser>
        <c:ser>
          <c:idx val="1"/>
          <c:order val="1"/>
          <c:tx>
            <c:strRef>
              <c:f>Sheet1!$C$1</c:f>
              <c:strCache>
                <c:ptCount val="1"/>
                <c:pt idx="0">
                  <c:v>AV+CV</c:v>
                </c:pt>
              </c:strCache>
            </c:strRef>
          </c:tx>
          <c:spPr>
            <a:solidFill>
              <a:srgbClr val="D9622B"/>
            </a:solidFill>
            <a:effectLst/>
          </c:spPr>
          <c:invertIfNegative val="0"/>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c:v>
                  </c:pt>
                  <c:pt idx="1">
                    <c:v>η = 0.5</c:v>
                  </c:pt>
                  <c:pt idx="2">
                    <c:v>H = 0.4</c:v>
                  </c:pt>
                </c:lvl>
              </c:multiLvlStrCache>
            </c:multiLvlStrRef>
          </c:cat>
          <c:val>
            <c:numRef>
              <c:f>Sheet1!$C$2:$C$4</c:f>
              <c:numCache>
                <c:formatCode>General</c:formatCode>
                <c:ptCount val="3"/>
                <c:pt idx="0">
                  <c:v>3</c:v>
                </c:pt>
                <c:pt idx="1">
                  <c:v>21.1</c:v>
                </c:pt>
                <c:pt idx="2">
                  <c:v>8.6</c:v>
                </c:pt>
              </c:numCache>
            </c:numRef>
          </c:val>
        </c:ser>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7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homework asks how much control variates and antithetic variates improve Monte Carlo prices of puts in the rough Bergomi model, separating variance reduction from computational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and parameters are the assignment's baseline. Checks at n = 128: sample means of Y within 1.8 SE of zero, sample variance within 0.8% of q_j, mean of V within 2.0 SE of xi. With eta = 0 the scheme is exact Black–Scholes simulation for any n; prices match within 2.0 SE. The figure shows H = 0.1 paths are rougher than H = 0.4 paths from the same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estimators of Problems 2–5. The fixed budget is from Problem 5(a). VRF and Gain are defined in equation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 100 from Problem 5(a); the report has all three strikes. Prices: plain 5.061 [5.01, 5.12], CV 5.108, AV 5.095, AV+CV 5.106. VRF ranks CV first; Gain ranks AV+CV first because antithetic pairs need half the random numbers. AV+CV has the largest Gain at K = 90 and 100; at K = 110 the Gains are within timing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5(c). With a smaller eta or a larger H the simulated stock is closer to the Black–Scholes control, so Corr(X, C) and the CV VRF rise. At baseline, pairing removes the part of the payoff the control also explains, so the control correlates less with the pair average and the combination's VRF is slightly below CV's. Gains: eta = 0.5: CV 14.6, AV+CV 19.0; H = 0.4: CV 5.4, AV+CV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VRF and Gain can rank methods differently: VRF compares error for the same number of path evaluations, Gain also accounts for computation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788920"/>
            <a:ext cx="804672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txBox="1"/>
          <p:nvPr/>
        </p:nvSpPr>
        <p:spPr>
          <a:xfrm>
            <a:off x="457200" y="4754880"/>
            <a:ext cx="3657600" cy="274320"/>
          </a:xfrm>
          <a:prstGeom prst="rect">
            <a:avLst/>
          </a:prstGeom>
          <a:noFill/>
          <a:ln/>
        </p:spPr>
        <p:txBody>
          <a:bodyPr wrap="square" rtlCol="0" anchor="ctr"/>
          <a:lstStyle/>
          <a:p>
            <a:pPr indent="0" marL="0">
              <a:buNone/>
            </a:pPr>
            <a:r>
              <a:rPr lang="en-US" sz="1000" dirty="0">
                <a:solidFill>
                  <a:schemeClr val="accent5"/>
                </a:solidFill>
              </a:rPr>
              <a:t>MTH 9821 · Team 9</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nchor="b"/>
          <a:lstStyle/>
          <a:p>
            <a:pPr algn="l" indent="0" marL="0">
              <a:buNone/>
            </a:pPr>
            <a:r>
              <a:rPr lang="en-US" sz="3600" b="1" dirty="0">
                <a:solidFill>
                  <a:schemeClr val="bg1"/>
                </a:solidFill>
              </a:rPr>
              <a:t>Variance reduction in a rough volatility model</a:t>
            </a:r>
            <a:endParaRPr lang="en-US" sz="3600" dirty="0"/>
          </a:p>
        </p:txBody>
      </p:sp>
      <p:sp>
        <p:nvSpPr>
          <p:cNvPr id="3" name="Text 0"/>
          <p:cNvSpPr/>
          <p:nvPr>
            <p:ph idx="101" type="body" hasCustomPrompt="1"/>
          </p:nvPr>
        </p:nvSpPr>
        <p:spPr>
          <a:xfrm>
            <a:off x="548640" y="2788920"/>
            <a:ext cx="8046720" cy="1097280"/>
          </a:xfrm>
          <a:prstGeom prst="rect">
            <a:avLst/>
          </a:prstGeom>
          <a:noFill/>
          <a:ln/>
        </p:spPr>
        <p:txBody>
          <a:bodyPr wrap="square" rtlCol="0" anchor="t"/>
          <a:lstStyle/>
          <a:p>
            <a:pPr indent="0" marL="0">
              <a:buNone/>
            </a:pPr>
            <a:r>
              <a:rPr lang="en-US" sz="1600" dirty="0">
                <a:solidFill>
                  <a:schemeClr val="accent3"/>
                </a:solidFill>
              </a:rPr>
              <a:t>Control variates and antithetic variates for rough Bergomi put prices</a:t>
            </a:r>
            <a:endParaRPr lang="en-US" sz="1600" dirty="0"/>
          </a:p>
          <a:p>
            <a:pPr indent="0" marL="0">
              <a:buNone/>
            </a:pPr>
            <a:r>
              <a:rPr lang="en-US" sz="1600" dirty="0">
                <a:solidFill>
                  <a:schemeClr val="accent3"/>
                </a:solidFill>
              </a:rPr>
              <a:t>Team 9 · Jaskaran Kalra, William McDonnell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Setup and simulator checks</a:t>
            </a:r>
            <a:endParaRPr lang="en-US" sz="2600" dirty="0"/>
          </a:p>
        </p:txBody>
      </p:sp>
      <p:sp>
        <p:nvSpPr>
          <p:cNvPr id="3" name="setup bullets"/>
          <p:cNvSpPr txBox="1"/>
          <p:nvPr/>
        </p:nvSpPr>
        <p:spPr>
          <a:xfrm>
            <a:off x="457200" y="1097280"/>
            <a:ext cx="4023360" cy="201168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Rough Bergomi: H = 0.1, η = 1.5, ρ = −0.7</a:t>
            </a:r>
            <a:endParaRPr lang="en-US" sz="1500" dirty="0"/>
          </a:p>
          <a:p>
            <a:pPr marL="342900" indent="-342900">
              <a:spcAft>
                <a:spcPts val="800"/>
              </a:spcAft>
              <a:buSzPct val="100000"/>
              <a:buChar char="•"/>
            </a:pPr>
            <a:r>
              <a:rPr lang="en-US" sz="1500" dirty="0">
                <a:solidFill>
                  <a:schemeClr val="tx1"/>
                </a:solidFill>
              </a:rPr>
              <a:t>Put (K − S_T)+, T = 0.5, K = 90, 100, 110</a:t>
            </a:r>
            <a:endParaRPr lang="en-US" sz="1500" dirty="0"/>
          </a:p>
          <a:p>
            <a:pPr marL="342900" indent="-342900">
              <a:spcAft>
                <a:spcPts val="800"/>
              </a:spcAft>
              <a:buSzPct val="100000"/>
              <a:buChar char="•"/>
            </a:pPr>
            <a:r>
              <a:rPr lang="en-US" sz="1500" dirty="0">
                <a:solidFill>
                  <a:schemeClr val="tx1"/>
                </a:solidFill>
              </a:rPr>
              <a:t>Supplied hybrid scheme, n = 128 steps; Monte Carlo average over simulated paths</a:t>
            </a:r>
            <a:endParaRPr lang="en-US" sz="1500" dirty="0"/>
          </a:p>
        </p:txBody>
      </p:sp>
      <p:sp>
        <p:nvSpPr>
          <p:cNvPr id="4" name="checks card"/>
          <p:cNvSpPr/>
          <p:nvPr/>
        </p:nvSpPr>
        <p:spPr>
          <a:xfrm>
            <a:off x="457200" y="3246120"/>
            <a:ext cx="4023360" cy="1325880"/>
          </a:xfrm>
          <a:prstGeom prst="roundRect">
            <a:avLst>
              <a:gd name="adj" fmla="val 5517"/>
            </a:avLst>
          </a:prstGeom>
          <a:solidFill>
            <a:schemeClr val="bg2"/>
          </a:solidFill>
          <a:ln w="12700">
            <a:solidFill>
              <a:schemeClr val="bg2"/>
            </a:solidFill>
            <a:prstDash val="solid"/>
          </a:ln>
        </p:spPr>
      </p:sp>
      <p:sp>
        <p:nvSpPr>
          <p:cNvPr id="5" name="checks text"/>
          <p:cNvSpPr txBox="1"/>
          <p:nvPr/>
        </p:nvSpPr>
        <p:spPr>
          <a:xfrm>
            <a:off x="640080" y="3337560"/>
            <a:ext cx="3657600" cy="1143000"/>
          </a:xfrm>
          <a:prstGeom prst="rect">
            <a:avLst/>
          </a:prstGeom>
          <a:noFill/>
          <a:ln/>
        </p:spPr>
        <p:txBody>
          <a:bodyPr wrap="square" rtlCol="0" anchor="t"/>
          <a:lstStyle/>
          <a:p>
            <a:pPr indent="0" marL="0">
              <a:buNone/>
            </a:pPr>
            <a:r>
              <a:rPr lang="en-US" sz="1300" b="1" dirty="0">
                <a:solidFill>
                  <a:schemeClr val="tx1"/>
                </a:solidFill>
              </a:rPr>
              <a:t>Checks (Problem 1)</a:t>
            </a:r>
            <a:endParaRPr lang="en-US" sz="1300" dirty="0"/>
          </a:p>
          <a:p>
            <a:pPr indent="0" marL="0">
              <a:buNone/>
            </a:pPr>
            <a:r>
              <a:rPr lang="en-US" sz="1300" dirty="0">
                <a:solidFill>
                  <a:schemeClr val="tx1"/>
                </a:solidFill>
              </a:rPr>
              <a:t>Mean and variance of Y, mean of V at j = 32, 64, 128 consistent with 0, q_j, ξ (within about 2 SE)</a:t>
            </a:r>
            <a:endParaRPr lang="en-US" sz="1300" dirty="0"/>
          </a:p>
          <a:p>
            <a:pPr indent="0" marL="0">
              <a:buNone/>
            </a:pPr>
            <a:r>
              <a:rPr lang="en-US" sz="1300" dirty="0">
                <a:solidFill>
                  <a:schemeClr val="tx1"/>
                </a:solidFill>
              </a:rPr>
              <a:t>η = 0: simulated put prices consistent with Black–Scholes (6)</a:t>
            </a:r>
            <a:endParaRPr lang="en-US" sz="1300" dirty="0"/>
          </a:p>
        </p:txBody>
      </p:sp>
      <p:pic>
        <p:nvPicPr>
          <p:cNvPr id="6" name="variance paths figure" descr="/home/claude/rbergomi-vr/slides/variance_paths.png">    </p:cNvPr>
          <p:cNvPicPr>
            <a:picLocks noChangeAspect="1"/>
          </p:cNvPicPr>
          <p:nvPr/>
        </p:nvPicPr>
        <p:blipFill>
          <a:blip r:embed="rId1"/>
          <a:stretch>
            <a:fillRect/>
          </a:stretch>
        </p:blipFill>
        <p:spPr>
          <a:xfrm>
            <a:off x="4709160" y="1325880"/>
            <a:ext cx="4023360" cy="1453896"/>
          </a:xfrm>
          <a:prstGeom prst="rect">
            <a:avLst/>
          </a:prstGeom>
        </p:spPr>
      </p:pic>
      <p:sp>
        <p:nvSpPr>
          <p:cNvPr id="7" name="fig caption"/>
          <p:cNvSpPr txBox="1"/>
          <p:nvPr/>
        </p:nvSpPr>
        <p:spPr>
          <a:xfrm>
            <a:off x="4709160" y="2834640"/>
            <a:ext cx="4023360" cy="365760"/>
          </a:xfrm>
          <a:prstGeom prst="rect">
            <a:avLst/>
          </a:prstGeom>
          <a:noFill/>
          <a:ln/>
        </p:spPr>
        <p:txBody>
          <a:bodyPr wrap="square" rtlCol="0" anchor="ctr"/>
          <a:lstStyle/>
          <a:p>
            <a:pPr indent="0" marL="0">
              <a:buNone/>
            </a:pPr>
            <a:r>
              <a:rPr lang="en-US" sz="1100" dirty="0">
                <a:solidFill>
                  <a:schemeClr val="accent5"/>
                </a:solidFill>
              </a:rPr>
              <a:t>Three variance paths, same Gaussian inputs, H = 0.1 vs H = 0.4</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Four estimators of the same price</a:t>
            </a:r>
            <a:endParaRPr lang="en-US" sz="2600" dirty="0"/>
          </a:p>
        </p:txBody>
      </p:sp>
      <p:sp>
        <p:nvSpPr>
          <p:cNvPr id="3" name="method card 1"/>
          <p:cNvSpPr/>
          <p:nvPr/>
        </p:nvSpPr>
        <p:spPr>
          <a:xfrm>
            <a:off x="457200" y="1097280"/>
            <a:ext cx="4023360" cy="1325880"/>
          </a:xfrm>
          <a:prstGeom prst="roundRect">
            <a:avLst>
              <a:gd name="adj" fmla="val 5517"/>
            </a:avLst>
          </a:prstGeom>
          <a:solidFill>
            <a:schemeClr val="bg2"/>
          </a:solidFill>
          <a:ln w="12700">
            <a:solidFill>
              <a:schemeClr val="bg2"/>
            </a:solidFill>
            <a:prstDash val="solid"/>
          </a:ln>
        </p:spPr>
      </p:sp>
      <p:sp>
        <p:nvSpPr>
          <p:cNvPr id="4" name="method text 1"/>
          <p:cNvSpPr txBox="1"/>
          <p:nvPr/>
        </p:nvSpPr>
        <p:spPr>
          <a:xfrm>
            <a:off x="640080" y="1188720"/>
            <a:ext cx="3657600" cy="1143000"/>
          </a:xfrm>
          <a:prstGeom prst="rect">
            <a:avLst/>
          </a:prstGeom>
          <a:noFill/>
          <a:ln/>
        </p:spPr>
        <p:txBody>
          <a:bodyPr wrap="square" rtlCol="0" anchor="t"/>
          <a:lstStyle/>
          <a:p>
            <a:pPr indent="0" marL="0">
              <a:spcAft>
                <a:spcPts val="400"/>
              </a:spcAft>
              <a:buNone/>
            </a:pPr>
            <a:r>
              <a:rPr lang="en-US" sz="1600" b="1" dirty="0">
                <a:solidFill>
                  <a:schemeClr val="accent1"/>
                </a:solidFill>
              </a:rPr>
              <a:t>Plain MC</a:t>
            </a:r>
            <a:endParaRPr lang="en-US" sz="1600" dirty="0"/>
          </a:p>
          <a:p>
            <a:pPr indent="0" marL="0">
              <a:spcAft>
                <a:spcPts val="400"/>
              </a:spcAft>
              <a:buNone/>
            </a:pPr>
            <a:r>
              <a:rPr lang="en-US" sz="1300" dirty="0">
                <a:solidFill>
                  <a:schemeClr val="tx1"/>
                </a:solidFill>
              </a:rPr>
              <a:t>Average the put payoffs over independent paths.</a:t>
            </a:r>
            <a:endParaRPr lang="en-US" sz="1600" dirty="0"/>
          </a:p>
        </p:txBody>
      </p:sp>
      <p:sp>
        <p:nvSpPr>
          <p:cNvPr id="5" name="method card 2"/>
          <p:cNvSpPr/>
          <p:nvPr/>
        </p:nvSpPr>
        <p:spPr>
          <a:xfrm>
            <a:off x="4663440" y="1097280"/>
            <a:ext cx="4023360" cy="1325880"/>
          </a:xfrm>
          <a:prstGeom prst="roundRect">
            <a:avLst>
              <a:gd name="adj" fmla="val 5517"/>
            </a:avLst>
          </a:prstGeom>
          <a:solidFill>
            <a:schemeClr val="bg2"/>
          </a:solidFill>
          <a:ln w="12700">
            <a:solidFill>
              <a:schemeClr val="bg2"/>
            </a:solidFill>
            <a:prstDash val="solid"/>
          </a:ln>
        </p:spPr>
      </p:sp>
      <p:sp>
        <p:nvSpPr>
          <p:cNvPr id="6" name="method text 2"/>
          <p:cNvSpPr txBox="1"/>
          <p:nvPr/>
        </p:nvSpPr>
        <p:spPr>
          <a:xfrm>
            <a:off x="4846320" y="1188720"/>
            <a:ext cx="3657600" cy="1143000"/>
          </a:xfrm>
          <a:prstGeom prst="rect">
            <a:avLst/>
          </a:prstGeom>
          <a:noFill/>
          <a:ln/>
        </p:spPr>
        <p:txBody>
          <a:bodyPr wrap="square" rtlCol="0" anchor="t"/>
          <a:lstStyle/>
          <a:p>
            <a:pPr indent="0" marL="0">
              <a:spcAft>
                <a:spcPts val="400"/>
              </a:spcAft>
              <a:buNone/>
            </a:pPr>
            <a:r>
              <a:rPr lang="en-US" sz="1600" b="1" dirty="0">
                <a:solidFill>
                  <a:schemeClr val="accent1"/>
                </a:solidFill>
              </a:rPr>
              <a:t>Control variate (CV)</a:t>
            </a:r>
            <a:endParaRPr lang="en-US" sz="1600" dirty="0"/>
          </a:p>
          <a:p>
            <a:pPr indent="0" marL="0">
              <a:spcAft>
                <a:spcPts val="400"/>
              </a:spcAft>
              <a:buNone/>
            </a:pPr>
            <a:r>
              <a:rPr lang="en-US" sz="1300" dirty="0">
                <a:solidFill>
                  <a:schemeClr val="tx1"/>
                </a:solidFill>
              </a:rPr>
              <a:t>Black–Scholes stock built from the same increments; its known price corrects the payoff. Coefficient fitted on a separate pilot run.</a:t>
            </a:r>
            <a:endParaRPr lang="en-US" sz="1600" dirty="0"/>
          </a:p>
        </p:txBody>
      </p:sp>
      <p:sp>
        <p:nvSpPr>
          <p:cNvPr id="7" name="method card 3"/>
          <p:cNvSpPr/>
          <p:nvPr/>
        </p:nvSpPr>
        <p:spPr>
          <a:xfrm>
            <a:off x="457200" y="2606040"/>
            <a:ext cx="4023360" cy="1325880"/>
          </a:xfrm>
          <a:prstGeom prst="roundRect">
            <a:avLst>
              <a:gd name="adj" fmla="val 5517"/>
            </a:avLst>
          </a:prstGeom>
          <a:solidFill>
            <a:schemeClr val="bg2"/>
          </a:solidFill>
          <a:ln w="12700">
            <a:solidFill>
              <a:schemeClr val="bg2"/>
            </a:solidFill>
            <a:prstDash val="solid"/>
          </a:ln>
        </p:spPr>
      </p:sp>
      <p:sp>
        <p:nvSpPr>
          <p:cNvPr id="8" name="method text 3"/>
          <p:cNvSpPr txBox="1"/>
          <p:nvPr/>
        </p:nvSpPr>
        <p:spPr>
          <a:xfrm>
            <a:off x="640080" y="2697480"/>
            <a:ext cx="3657600" cy="1143000"/>
          </a:xfrm>
          <a:prstGeom prst="rect">
            <a:avLst/>
          </a:prstGeom>
          <a:noFill/>
          <a:ln/>
        </p:spPr>
        <p:txBody>
          <a:bodyPr wrap="square" rtlCol="0" anchor="t"/>
          <a:lstStyle/>
          <a:p>
            <a:pPr indent="0" marL="0">
              <a:spcAft>
                <a:spcPts val="400"/>
              </a:spcAft>
              <a:buNone/>
            </a:pPr>
            <a:r>
              <a:rPr lang="en-US" sz="1600" b="1" dirty="0">
                <a:solidFill>
                  <a:schemeClr val="accent1"/>
                </a:solidFill>
              </a:rPr>
              <a:t>Antithetic (AV)</a:t>
            </a:r>
            <a:endParaRPr lang="en-US" sz="1600" dirty="0"/>
          </a:p>
          <a:p>
            <a:pPr indent="0" marL="0">
              <a:spcAft>
                <a:spcPts val="400"/>
              </a:spcAft>
              <a:buNone/>
            </a:pPr>
            <a:r>
              <a:rPr lang="en-US" sz="1300" dirty="0">
                <a:solidFill>
                  <a:schemeClr val="tx1"/>
                </a:solidFill>
              </a:rPr>
              <a:t>Each set of Gaussian inputs is used twice, as Z and −Z; the pair average is one observation.</a:t>
            </a:r>
            <a:endParaRPr lang="en-US" sz="1600" dirty="0"/>
          </a:p>
        </p:txBody>
      </p:sp>
      <p:sp>
        <p:nvSpPr>
          <p:cNvPr id="9" name="method card 4"/>
          <p:cNvSpPr/>
          <p:nvPr/>
        </p:nvSpPr>
        <p:spPr>
          <a:xfrm>
            <a:off x="4663440" y="2606040"/>
            <a:ext cx="4023360" cy="1325880"/>
          </a:xfrm>
          <a:prstGeom prst="roundRect">
            <a:avLst>
              <a:gd name="adj" fmla="val 5517"/>
            </a:avLst>
          </a:prstGeom>
          <a:solidFill>
            <a:schemeClr val="bg2"/>
          </a:solidFill>
          <a:ln w="12700">
            <a:solidFill>
              <a:schemeClr val="bg2"/>
            </a:solidFill>
            <a:prstDash val="solid"/>
          </a:ln>
        </p:spPr>
      </p:sp>
      <p:sp>
        <p:nvSpPr>
          <p:cNvPr id="10" name="method text 4"/>
          <p:cNvSpPr txBox="1"/>
          <p:nvPr/>
        </p:nvSpPr>
        <p:spPr>
          <a:xfrm>
            <a:off x="4846320" y="2697480"/>
            <a:ext cx="3657600" cy="1143000"/>
          </a:xfrm>
          <a:prstGeom prst="rect">
            <a:avLst/>
          </a:prstGeom>
          <a:noFill/>
          <a:ln/>
        </p:spPr>
        <p:txBody>
          <a:bodyPr wrap="square" rtlCol="0" anchor="t"/>
          <a:lstStyle/>
          <a:p>
            <a:pPr indent="0" marL="0">
              <a:spcAft>
                <a:spcPts val="400"/>
              </a:spcAft>
              <a:buNone/>
            </a:pPr>
            <a:r>
              <a:rPr lang="en-US" sz="1600" b="1" dirty="0">
                <a:solidFill>
                  <a:schemeClr val="accent1"/>
                </a:solidFill>
              </a:rPr>
              <a:t>Combined (AV+CV)</a:t>
            </a:r>
            <a:endParaRPr lang="en-US" sz="1600" dirty="0"/>
          </a:p>
          <a:p>
            <a:pPr indent="0" marL="0">
              <a:spcAft>
                <a:spcPts val="400"/>
              </a:spcAft>
              <a:buNone/>
            </a:pPr>
            <a:r>
              <a:rPr lang="en-US" sz="1300" dirty="0">
                <a:solidFill>
                  <a:schemeClr val="tx1"/>
                </a:solidFill>
              </a:rPr>
              <a:t>Antithetic pairs, with the control applied to the pair average. Coefficient from a pilot of pairs.</a:t>
            </a:r>
            <a:endParaRPr lang="en-US" sz="1600" dirty="0"/>
          </a:p>
        </p:txBody>
      </p:sp>
      <p:sp>
        <p:nvSpPr>
          <p:cNvPr id="11" name="budget note"/>
          <p:cNvSpPr txBox="1"/>
          <p:nvPr/>
        </p:nvSpPr>
        <p:spPr>
          <a:xfrm>
            <a:off x="457200" y="4160520"/>
            <a:ext cx="8229600" cy="411480"/>
          </a:xfrm>
          <a:prstGeom prst="rect">
            <a:avLst/>
          </a:prstGeom>
          <a:noFill/>
          <a:ln/>
        </p:spPr>
        <p:txBody>
          <a:bodyPr wrap="square" rtlCol="0" anchor="ctr"/>
          <a:lstStyle/>
          <a:p>
            <a:pPr indent="0" marL="0">
              <a:buNone/>
            </a:pPr>
            <a:r>
              <a:rPr lang="en-US" sz="1200" dirty="0">
                <a:solidFill>
                  <a:schemeClr val="accent5"/>
                </a:solidFill>
              </a:rPr>
              <a:t>Each method: 100,000 production path evaluations; pilots of 10,000. VRF = SE² ratio vs plain; Gain also divides by run time (incl. pilot).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Baseline results, K = 100</a:t>
            </a:r>
            <a:endParaRPr lang="en-US" sz="2600" dirty="0"/>
          </a:p>
        </p:txBody>
      </p:sp>
      <p:graphicFrame>
        <p:nvGraphicFramePr>
          <p:cNvPr id="3" name="results chart" descr=""/>
          <p:cNvGraphicFramePr/>
          <p:nvPr/>
        </p:nvGraphicFramePr>
        <p:xfrm>
          <a:off x="457200" y="1097280"/>
          <a:ext cx="4389120" cy="3474720"/>
        </p:xfrm>
        <a:graphic xmlns:a="http://schemas.openxmlformats.org/drawingml/2006/main">
          <a:graphicData uri="http://schemas.openxmlformats.org/drawingml/2006/chart">
            <c:chart xmlns:c="http://schemas.openxmlformats.org/drawingml/2006/chart" r:id="rId1"/>
          </a:graphicData>
        </a:graphic>
      </p:graphicFrame>
      <p:sp>
        <p:nvSpPr>
          <p:cNvPr id="4" name="takeaway card"/>
          <p:cNvSpPr/>
          <p:nvPr/>
        </p:nvSpPr>
        <p:spPr>
          <a:xfrm>
            <a:off x="5029200" y="1097280"/>
            <a:ext cx="3657600" cy="3474720"/>
          </a:xfrm>
          <a:prstGeom prst="roundRect">
            <a:avLst>
              <a:gd name="adj" fmla="val 2105"/>
            </a:avLst>
          </a:prstGeom>
          <a:solidFill>
            <a:schemeClr val="bg2"/>
          </a:solidFill>
          <a:ln w="12700">
            <a:solidFill>
              <a:schemeClr val="bg2"/>
            </a:solidFill>
            <a:prstDash val="solid"/>
          </a:ln>
        </p:spPr>
      </p:sp>
      <p:sp>
        <p:nvSpPr>
          <p:cNvPr id="5" name="takeaway text"/>
          <p:cNvSpPr txBox="1"/>
          <p:nvPr/>
        </p:nvSpPr>
        <p:spPr>
          <a:xfrm>
            <a:off x="5212080" y="1188720"/>
            <a:ext cx="3291840" cy="3291840"/>
          </a:xfrm>
          <a:prstGeom prst="rect">
            <a:avLst/>
          </a:prstGeom>
          <a:noFill/>
          <a:ln/>
        </p:spPr>
        <p:txBody>
          <a:bodyPr wrap="square" rtlCol="0" anchor="t"/>
          <a:lstStyle/>
          <a:p>
            <a:pPr indent="0" marL="0">
              <a:spcAft>
                <a:spcPts val="600"/>
              </a:spcAft>
              <a:buNone/>
            </a:pPr>
            <a:r>
              <a:rPr lang="en-US" sz="1500" b="1" dirty="0">
                <a:solidFill>
                  <a:schemeClr val="tx2"/>
                </a:solidFill>
              </a:rPr>
              <a:t>Observations</a:t>
            </a:r>
            <a:endParaRPr lang="en-US" sz="1300" dirty="0"/>
          </a:p>
          <a:p>
            <a:pPr marL="342900" indent="-342900">
              <a:spcAft>
                <a:spcPts val="600"/>
              </a:spcAft>
              <a:buSzPct val="100000"/>
              <a:buChar char="•"/>
            </a:pPr>
            <a:r>
              <a:rPr lang="en-US" sz="1300" dirty="0">
                <a:solidFill>
                  <a:schemeClr val="tx1"/>
                </a:solidFill>
              </a:rPr>
              <a:t>CV: VRF 3.2. Payoff and control move together (corr 0.83); VRF ≈ 1/(1−corr²)</a:t>
            </a:r>
            <a:endParaRPr lang="en-US" sz="1300" dirty="0"/>
          </a:p>
          <a:p>
            <a:pPr marL="342900" indent="-342900">
              <a:spcAft>
                <a:spcPts val="600"/>
              </a:spcAft>
              <a:buSzPct val="100000"/>
              <a:buChar char="•"/>
            </a:pPr>
            <a:r>
              <a:rPr lang="en-US" sz="1300" dirty="0">
                <a:solidFill>
                  <a:schemeClr val="tx1"/>
                </a:solidFill>
              </a:rPr>
              <a:t>AV: VRF 1.4. Pair outcomes only mildly offset (corr -0.28); VRF ≈ 1/(1+corr)</a:t>
            </a:r>
            <a:endParaRPr lang="en-US" sz="1300" dirty="0"/>
          </a:p>
          <a:p>
            <a:pPr marL="342900" indent="-342900">
              <a:spcAft>
                <a:spcPts val="600"/>
              </a:spcAft>
              <a:buSzPct val="100000"/>
              <a:buChar char="•"/>
            </a:pPr>
            <a:r>
              <a:rPr lang="en-US" sz="1300" dirty="0">
                <a:solidFill>
                  <a:schemeClr val="tx1"/>
                </a:solidFill>
              </a:rPr>
              <a:t>Gain ranks AV+CV first (2.8): a pair needs half the random numbers, so it runs faster</a:t>
            </a:r>
            <a:endParaRPr lang="en-US" sz="1300" dirty="0"/>
          </a:p>
          <a:p>
            <a:pPr marL="342900" indent="-342900">
              <a:spcAft>
                <a:spcPts val="600"/>
              </a:spcAft>
              <a:buSzPct val="100000"/>
              <a:buChar char="•"/>
            </a:pPr>
            <a:r>
              <a:rPr lang="en-US" sz="1300" dirty="0">
                <a:solidFill>
                  <a:schemeClr val="tx1"/>
                </a:solidFill>
              </a:rPr>
              <a:t>All four 95% confidence intervals overlap</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Parameter sensitivity, K = 100</a:t>
            </a:r>
            <a:endParaRPr lang="en-US" sz="2600" dirty="0"/>
          </a:p>
        </p:txBody>
      </p:sp>
      <p:graphicFrame>
        <p:nvGraphicFramePr>
          <p:cNvPr id="3" name="sensitivity chart" descr=""/>
          <p:cNvGraphicFramePr/>
          <p:nvPr/>
        </p:nvGraphicFramePr>
        <p:xfrm>
          <a:off x="457200" y="1097280"/>
          <a:ext cx="4389120" cy="3474720"/>
        </p:xfrm>
        <a:graphic xmlns:a="http://schemas.openxmlformats.org/drawingml/2006/main">
          <a:graphicData uri="http://schemas.openxmlformats.org/drawingml/2006/chart">
            <c:chart xmlns:c="http://schemas.openxmlformats.org/drawingml/2006/chart" r:id="rId1"/>
          </a:graphicData>
        </a:graphic>
      </p:graphicFrame>
      <p:sp>
        <p:nvSpPr>
          <p:cNvPr id="4" name="why card"/>
          <p:cNvSpPr/>
          <p:nvPr/>
        </p:nvSpPr>
        <p:spPr>
          <a:xfrm>
            <a:off x="5029200" y="1097280"/>
            <a:ext cx="3657600" cy="3474720"/>
          </a:xfrm>
          <a:prstGeom prst="roundRect">
            <a:avLst>
              <a:gd name="adj" fmla="val 2105"/>
            </a:avLst>
          </a:prstGeom>
          <a:solidFill>
            <a:schemeClr val="bg2"/>
          </a:solidFill>
          <a:ln w="12700">
            <a:solidFill>
              <a:schemeClr val="bg2"/>
            </a:solidFill>
            <a:prstDash val="solid"/>
          </a:ln>
        </p:spPr>
      </p:sp>
      <p:sp>
        <p:nvSpPr>
          <p:cNvPr id="5" name="why text"/>
          <p:cNvSpPr txBox="1"/>
          <p:nvPr/>
        </p:nvSpPr>
        <p:spPr>
          <a:xfrm>
            <a:off x="5212080" y="1188720"/>
            <a:ext cx="3291840" cy="3291840"/>
          </a:xfrm>
          <a:prstGeom prst="rect">
            <a:avLst/>
          </a:prstGeom>
          <a:noFill/>
          <a:ln/>
        </p:spPr>
        <p:txBody>
          <a:bodyPr wrap="square" rtlCol="0" anchor="t"/>
          <a:lstStyle/>
          <a:p>
            <a:pPr indent="0" marL="0">
              <a:spcAft>
                <a:spcPts val="600"/>
              </a:spcAft>
              <a:buNone/>
            </a:pPr>
            <a:r>
              <a:rPr lang="en-US" sz="1500" b="1" dirty="0">
                <a:solidFill>
                  <a:schemeClr val="tx2"/>
                </a:solidFill>
              </a:rPr>
              <a:t>Observations</a:t>
            </a:r>
            <a:endParaRPr lang="en-US" sz="1300" dirty="0"/>
          </a:p>
          <a:p>
            <a:pPr marL="342900" indent="-342900">
              <a:spcAft>
                <a:spcPts val="600"/>
              </a:spcAft>
              <a:buSzPct val="100000"/>
              <a:buChar char="•"/>
            </a:pPr>
            <a:r>
              <a:rPr lang="en-US" sz="1300" dirty="0">
                <a:solidFill>
                  <a:schemeClr val="tx1"/>
                </a:solidFill>
              </a:rPr>
              <a:t>Smaller η or larger H: the stock behaves more like the Black–Scholes control, so corr rises (0.83 → 0.97, 0.93) and CV improves</a:t>
            </a:r>
            <a:endParaRPr lang="en-US" sz="1300" dirty="0"/>
          </a:p>
          <a:p>
            <a:pPr marL="342900" indent="-342900">
              <a:spcAft>
                <a:spcPts val="600"/>
              </a:spcAft>
              <a:buSzPct val="100000"/>
              <a:buChar char="•"/>
            </a:pPr>
            <a:r>
              <a:rPr lang="en-US" sz="1300" dirty="0">
                <a:solidFill>
                  <a:schemeClr val="tx1"/>
                </a:solidFill>
              </a:rPr>
              <a:t>Baseline: AV+CV is below CV. Flipping removes noise the control already explains (corr falls to 0.74 after pairing)</a:t>
            </a:r>
            <a:endParaRPr lang="en-US" sz="1300" dirty="0"/>
          </a:p>
          <a:p>
            <a:pPr marL="342900" indent="-342900">
              <a:spcAft>
                <a:spcPts val="600"/>
              </a:spcAft>
              <a:buSzPct val="100000"/>
              <a:buChar char="•"/>
            </a:pPr>
            <a:r>
              <a:rPr lang="en-US" sz="1300" dirty="0">
                <a:solidFill>
                  <a:schemeClr val="tx1"/>
                </a:solidFill>
              </a:rPr>
              <a:t>η = 0.5, H = 0.4: the control still fits the pair well, so AV+CV leads on VRF and Gain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nchor="b"/>
          <a:lstStyle/>
          <a:p>
            <a:pPr algn="l" indent="0" marL="0">
              <a:buNone/>
            </a:pPr>
            <a:r>
              <a:rPr lang="en-US" sz="3600" b="1" dirty="0">
                <a:solidFill>
                  <a:schemeClr val="bg1"/>
                </a:solidFill>
              </a:rPr>
              <a:t>Conclusions</a:t>
            </a:r>
            <a:endParaRPr lang="en-US" sz="3600" dirty="0"/>
          </a:p>
        </p:txBody>
      </p:sp>
      <p:sp>
        <p:nvSpPr>
          <p:cNvPr id="3" name="Text 0"/>
          <p:cNvSpPr/>
          <p:nvPr>
            <p:ph idx="101" type="body" hasCustomPrompt="1"/>
          </p:nvPr>
        </p:nvSpPr>
        <p:spPr>
          <a:xfrm>
            <a:off x="548640" y="2788920"/>
            <a:ext cx="8046720" cy="1097280"/>
          </a:xfrm>
          <a:prstGeom prst="rect">
            <a:avLst/>
          </a:prstGeom>
          <a:noFill/>
          <a:ln/>
        </p:spPr>
        <p:txBody>
          <a:bodyPr wrap="square" rtlCol="0" anchor="t"/>
          <a:lstStyle/>
          <a:p>
            <a:pPr marL="342900" indent="-342900">
              <a:spcAft>
                <a:spcPts val="800"/>
              </a:spcAft>
              <a:buSzPct val="100000"/>
              <a:buChar char="•"/>
            </a:pPr>
            <a:r>
              <a:rPr lang="en-US" sz="1600" dirty="0">
                <a:solidFill>
                  <a:schemeClr val="accent3"/>
                </a:solidFill>
              </a:rPr>
              <a:t>Variance reduction (VRF): the control variate is largest at all three baseline strikes</a:t>
            </a:r>
            <a:endParaRPr lang="en-US" sz="1600" dirty="0"/>
          </a:p>
          <a:p>
            <a:pPr marL="342900" indent="-342900">
              <a:spcAft>
                <a:spcPts val="800"/>
              </a:spcAft>
              <a:buSzPct val="100000"/>
              <a:buChar char="•"/>
            </a:pPr>
            <a:r>
              <a:rPr lang="en-US" sz="1600" dirty="0">
                <a:solidFill>
                  <a:schemeClr val="accent3"/>
                </a:solidFill>
              </a:rPr>
              <a:t>Efficiency (Gain): AV+CV is largest at K = 90 and 100; antithetic pairs halve random-number cost</a:t>
            </a:r>
            <a:endParaRPr lang="en-US" sz="1600" dirty="0"/>
          </a:p>
          <a:p>
            <a:pPr marL="342900" indent="-342900">
              <a:spcAft>
                <a:spcPts val="800"/>
              </a:spcAft>
              <a:buSzPct val="100000"/>
              <a:buChar char="•"/>
            </a:pPr>
            <a:r>
              <a:rPr lang="en-US" sz="1600" dirty="0">
                <a:solidFill>
                  <a:schemeClr val="accent3"/>
                </a:solidFill>
              </a:rPr>
              <a:t>With η = 0.5 or H = 0.4, all correlations strengthen and AV+CV leads on both measures</a:t>
            </a:r>
            <a:endParaRPr lang="en-US" sz="1600" dirty="0"/>
          </a:p>
        </p:txBody>
      </p:sp>
    </p:spTree>
  </p:cSld>
  <p:clrMapOvr>
    <a:masterClrMapping/>
  </p:clrMapOvr>
</p:sld>
</file>

<file path=ppt/theme/theme1.xml><?xml version="1.0" encoding="utf-8"?>
<a:theme xmlns:a="http://schemas.openxmlformats.org/drawingml/2006/main" name="Rough Vol">
  <a:themeElements>
    <a:clrScheme name="Rough Vol">
      <a:dk1>
        <a:srgbClr val="1E2328"/>
      </a:dk1>
      <a:lt1>
        <a:srgbClr val="FFFFFF"/>
      </a:lt1>
      <a:dk2>
        <a:srgbClr val="23313D"/>
      </a:dk2>
      <a:lt2>
        <a:srgbClr val="EEF2F4"/>
      </a:lt2>
      <a:accent1>
        <a:srgbClr val="D9622B"/>
      </a:accent1>
      <a:accent2>
        <a:srgbClr val="2F7D8C"/>
      </a:accent2>
      <a:accent3>
        <a:srgbClr val="8FA3AE"/>
      </a:accent3>
      <a:accent4>
        <a:srgbClr val="E9B44C"/>
      </a:accent4>
      <a:accent5>
        <a:srgbClr val="5B6770"/>
      </a:accent5>
      <a:accent6>
        <a:srgbClr val="B23A48"/>
      </a:accent6>
      <a:hlink>
        <a:srgbClr val="2F7D8C"/>
      </a:hlink>
      <a:folHlink>
        <a:srgbClr val="5B6770"/>
      </a:folHlink>
    </a:clrScheme>
    <a:fontScheme name="Rough V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Variance reduction in a rough volatility model</dc:title>
  <dc:subject>PptxGenJS Presentation</dc:subject>
  <dc:creator>Team 9</dc:creator>
  <cp:lastModifiedBy>Team 9</cp:lastModifiedBy>
  <cp:revision>1</cp:revision>
  <dcterms:created xsi:type="dcterms:W3CDTF">2026-10-05T01:03:00Z</dcterms:created>
  <dcterms:modified xsi:type="dcterms:W3CDTF">2026-10-05T01:03:00Z</dcterms:modified>
</cp:coreProperties>
</file>