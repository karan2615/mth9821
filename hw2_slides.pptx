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1d63e8f-3cdf-5b8e-5d2b-ddc1d1fbbd9e}">
          <p14:sldIdLst>
            <p14:sldId id="256"/>
          </p14:sldIdLst>
        </p14:section>
        <p14:section name="Setup" id="{022fa347-5e24-4014-7adb-1f642483b8cb}">
          <p14:sldIdLst>
            <p14:sldId id="257"/>
          </p14:sldIdLst>
        </p14:section>
        <p14:section name="Methods" id="{d8c07527-3c41-f622-3d89-911b8eb4102d}">
          <p14:sldIdLst>
            <p14:sldId id="258"/>
          </p14:sldIdLst>
        </p14:section>
        <p14:section name="Results" id="{c80184d0-9fb9-ef67-77d9-4f9eb210fa13}">
          <p14:sldIdLst>
            <p14:sldId id="259"/>
            <p14:sldId id="260"/>
          </p14:sldIdLst>
        </p14:section>
        <p14:section name="Close" id="{91c6d86b-2a20-0f4e-3c0e-9f0c5671a249}">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313D"/>
                </a:solidFill>
                <a:latin typeface="+mn-lt"/>
              </a:defRPr>
            </a:pPr>
            <a:r>
              <a:rPr sz="1200" b="0" i="0" u="none" strike="noStrike">
                <a:solidFill>
                  <a:srgbClr val="23313D"/>
                </a:solidFill>
                <a:latin typeface="+mn-lt"/>
              </a:rPr>
              <a:t>K = 100, times better than plain (1 = no gain)</a:t>
            </a:r>
          </a:p>
        </c:rich>
      </c:tx>
      <c:layout/>
      <c:overlay val="0"/>
    </c:title>
    <c:autoTitleDeleted val="0"/>
    <c:plotArea>
      <c:layout/>
      <c:barChart>
        <c:barDir val="col"/>
        <c:grouping val="clustered"/>
        <c:varyColors val="0"/>
        <c:ser>
          <c:idx val="0"/>
          <c:order val="0"/>
          <c:tx>
            <c:strRef>
              <c:f>Sheet1!$B$1</c:f>
              <c:strCache>
                <c:ptCount val="1"/>
                <c:pt idx="0">
                  <c:v>Variance reduction (VRF)</c:v>
                </c:pt>
              </c:strCache>
            </c:strRef>
          </c:tx>
          <c:spPr>
            <a:solidFill>
              <a:srgbClr val="2F7D8C"/>
            </a:solidFill>
            <a:effectLst/>
          </c:spPr>
          <c:invertIfNegative val="0"/>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CV</c:v>
                  </c:pt>
                  <c:pt idx="1">
                    <c:v>AV</c:v>
                  </c:pt>
                  <c:pt idx="2">
                    <c:v>AV+CV</c:v>
                  </c:pt>
                </c:lvl>
              </c:multiLvlStrCache>
            </c:multiLvlStrRef>
          </c:cat>
          <c:val>
            <c:numRef>
              <c:f>Sheet1!$B$2:$B$4</c:f>
              <c:numCache>
                <c:formatCode>General</c:formatCode>
                <c:ptCount val="3"/>
                <c:pt idx="0">
                  <c:v>3.16</c:v>
                </c:pt>
                <c:pt idx="1">
                  <c:v>1.37</c:v>
                </c:pt>
                <c:pt idx="2">
                  <c:v>2.99</c:v>
                </c:pt>
              </c:numCache>
            </c:numRef>
          </c:val>
        </c:ser>
        <c:ser>
          <c:idx val="1"/>
          <c:order val="1"/>
          <c:tx>
            <c:strRef>
              <c:f>Sheet1!$C$1</c:f>
              <c:strCache>
                <c:ptCount val="1"/>
                <c:pt idx="0">
                  <c:v>Efficiency incl. run time (Gain)</c:v>
                </c:pt>
              </c:strCache>
            </c:strRef>
          </c:tx>
          <c:spPr>
            <a:solidFill>
              <a:srgbClr val="D9622B"/>
            </a:solidFill>
            <a:effectLst/>
          </c:spPr>
          <c:invertIfNegative val="0"/>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CV</c:v>
                  </c:pt>
                  <c:pt idx="1">
                    <c:v>AV</c:v>
                  </c:pt>
                  <c:pt idx="2">
                    <c:v>AV+CV</c:v>
                  </c:pt>
                </c:lvl>
              </c:multiLvlStrCache>
            </c:multiLvlStrRef>
          </c:cat>
          <c:val>
            <c:numRef>
              <c:f>Sheet1!$C$2:$C$4</c:f>
              <c:numCache>
                <c:formatCode>General</c:formatCode>
                <c:ptCount val="3"/>
                <c:pt idx="0">
                  <c:v>2.32</c:v>
                </c:pt>
                <c:pt idx="1">
                  <c:v>1.86</c:v>
                </c:pt>
                <c:pt idx="2">
                  <c:v>2.82</c:v>
                </c:pt>
              </c:numCache>
            </c:numRef>
          </c:val>
        </c:ser>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7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7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313D"/>
                </a:solidFill>
                <a:latin typeface="+mn-lt"/>
              </a:defRPr>
            </a:pPr>
            <a:r>
              <a:rPr sz="1200" b="0" i="0" u="none" strike="noStrike">
                <a:solidFill>
                  <a:srgbClr val="23313D"/>
                </a:solidFill>
                <a:latin typeface="+mn-lt"/>
              </a:rPr>
              <a:t>Variance reduction (VRF), K = 100</a:t>
            </a:r>
          </a:p>
        </c:rich>
      </c:tx>
      <c:layout/>
      <c:overlay val="0"/>
    </c:title>
    <c:autoTitleDeleted val="0"/>
    <c:plotArea>
      <c:layout/>
      <c:barChart>
        <c:barDir val="col"/>
        <c:grouping val="clustered"/>
        <c:varyColors val="0"/>
        <c:ser>
          <c:idx val="0"/>
          <c:order val="0"/>
          <c:tx>
            <c:strRef>
              <c:f>Sheet1!$B$1</c:f>
              <c:strCache>
                <c:ptCount val="1"/>
                <c:pt idx="0">
                  <c:v>CV</c:v>
                </c:pt>
              </c:strCache>
            </c:strRef>
          </c:tx>
          <c:spPr>
            <a:solidFill>
              <a:srgbClr val="2F7D8C"/>
            </a:solidFill>
            <a:effectLst/>
          </c:spPr>
          <c:invertIfNegative val="0"/>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Baseline</c:v>
                  </c:pt>
                  <c:pt idx="1">
                    <c:v>Vol-of-vol 0.5</c:v>
                  </c:pt>
                  <c:pt idx="2">
                    <c:v>H = 0.4</c:v>
                  </c:pt>
                </c:lvl>
              </c:multiLvlStrCache>
            </c:multiLvlStrRef>
          </c:cat>
          <c:val>
            <c:numRef>
              <c:f>Sheet1!$B$2:$B$4</c:f>
              <c:numCache>
                <c:formatCode>General</c:formatCode>
                <c:ptCount val="3"/>
                <c:pt idx="0">
                  <c:v>3.2</c:v>
                </c:pt>
                <c:pt idx="1">
                  <c:v>20.4</c:v>
                </c:pt>
                <c:pt idx="2">
                  <c:v>7.1</c:v>
                </c:pt>
              </c:numCache>
            </c:numRef>
          </c:val>
        </c:ser>
        <c:ser>
          <c:idx val="1"/>
          <c:order val="1"/>
          <c:tx>
            <c:strRef>
              <c:f>Sheet1!$C$1</c:f>
              <c:strCache>
                <c:ptCount val="1"/>
                <c:pt idx="0">
                  <c:v>AV+CV</c:v>
                </c:pt>
              </c:strCache>
            </c:strRef>
          </c:tx>
          <c:spPr>
            <a:solidFill>
              <a:srgbClr val="D9622B"/>
            </a:solidFill>
            <a:effectLst/>
          </c:spPr>
          <c:invertIfNegative val="0"/>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Baseline</c:v>
                  </c:pt>
                  <c:pt idx="1">
                    <c:v>Vol-of-vol 0.5</c:v>
                  </c:pt>
                  <c:pt idx="2">
                    <c:v>H = 0.4</c:v>
                  </c:pt>
                </c:lvl>
              </c:multiLvlStrCache>
            </c:multiLvlStrRef>
          </c:cat>
          <c:val>
            <c:numRef>
              <c:f>Sheet1!$C$2:$C$4</c:f>
              <c:numCache>
                <c:formatCode>General</c:formatCode>
                <c:ptCount val="3"/>
                <c:pt idx="0">
                  <c:v>3</c:v>
                </c:pt>
                <c:pt idx="1">
                  <c:v>21.1</c:v>
                </c:pt>
                <c:pt idx="2">
                  <c:v>8.6</c:v>
                </c:pt>
              </c:numCache>
            </c:numRef>
          </c:val>
        </c:ser>
        <c:dLbls>
          <c:numFmt formatCode="0.0" sourceLinked="0"/>
          <c:txPr>
            <a:bodyPr/>
            <a:lstStyle/>
            <a:p>
              <a:pPr>
                <a:defRPr b="0" i="0" strike="noStrike" sz="1100" u="none">
                  <a:solidFill>
                    <a:srgbClr val="1E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7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7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price puts in the rough Bergomi model by simulation and ask: which tricks make the simulation more accurate for the same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Volatility in this model is very jagged, so there is no closed-form price. We simulate and average. Before comparing methods we checked the simulator: average variance matches, and with no vol-of-vol it reproduces Black–Scholes.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estimate the same number. CV uses a Black–Scholes stock driven by the same random numbers as a reference with a known price. AV reuses each random draw with its sign flipped. The combined method does both. CV and the combination fit their correction size on a small separate pilot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VRF = how much smaller the error variance is than plain MC for the same number of paths. Gain also accounts for run time. CV gives the biggest VRF (3.16). AV is weak on accuracy (1.37) but cheap because it needs half the random numbers. The combination gets close to CV's accuracy at lower cost, so it has the best Gain (2.82).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case changes one parameter. Lower vol-of-vol: correlation between the payoff and the control rises from 0.83 to 0.97, and the VRF jumps to about 20.4. Smoother volatility (H = 0.4) gives about 7.1. At baseline, flipping the random numbers and the control both remove the same part of the noise, so combining them doesn't add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per path and accuracy per second can rank methods differently. Here the combined method wins on the second, and the rougher the volatility, the less any of these tricks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788920"/>
            <a:ext cx="804672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txBox="1"/>
          <p:nvPr/>
        </p:nvSpPr>
        <p:spPr>
          <a:xfrm>
            <a:off x="457200" y="4754880"/>
            <a:ext cx="3657600" cy="274320"/>
          </a:xfrm>
          <a:prstGeom prst="rect">
            <a:avLst/>
          </a:prstGeom>
          <a:noFill/>
          <a:ln/>
        </p:spPr>
        <p:txBody>
          <a:bodyPr wrap="square" rtlCol="0" anchor="ctr"/>
          <a:lstStyle/>
          <a:p>
            <a:pPr indent="0" marL="0">
              <a:buNone/>
            </a:pPr>
            <a:r>
              <a:rPr lang="en-US" sz="1000" dirty="0">
                <a:solidFill>
                  <a:schemeClr val="accent5"/>
                </a:solidFill>
              </a:rPr>
              <a:t>MTH 9821 · Team 9</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nchor="b"/>
          <a:lstStyle/>
          <a:p>
            <a:pPr algn="l" indent="0" marL="0">
              <a:buNone/>
            </a:pPr>
            <a:r>
              <a:rPr lang="en-US" sz="3600" b="1" dirty="0">
                <a:solidFill>
                  <a:schemeClr val="bg1"/>
                </a:solidFill>
              </a:rPr>
              <a:t>Making Monte Carlo cheaper in a rough volatility model</a:t>
            </a:r>
            <a:endParaRPr lang="en-US" sz="3600" dirty="0"/>
          </a:p>
        </p:txBody>
      </p:sp>
      <p:sp>
        <p:nvSpPr>
          <p:cNvPr id="3" name="Text 0"/>
          <p:cNvSpPr/>
          <p:nvPr>
            <p:ph idx="101" type="body" hasCustomPrompt="1"/>
          </p:nvPr>
        </p:nvSpPr>
        <p:spPr>
          <a:xfrm>
            <a:off x="548640" y="2788920"/>
            <a:ext cx="8046720" cy="1097280"/>
          </a:xfrm>
          <a:prstGeom prst="rect">
            <a:avLst/>
          </a:prstGeom>
          <a:noFill/>
          <a:ln/>
        </p:spPr>
        <p:txBody>
          <a:bodyPr wrap="square" rtlCol="0" anchor="t"/>
          <a:lstStyle/>
          <a:p>
            <a:pPr indent="0" marL="0">
              <a:buNone/>
            </a:pPr>
            <a:r>
              <a:rPr lang="en-US" sz="1600" dirty="0">
                <a:solidFill>
                  <a:schemeClr val="accent3"/>
                </a:solidFill>
              </a:rPr>
              <a:t>Control variates and antithetic sampling for put options</a:t>
            </a:r>
            <a:endParaRPr lang="en-US" sz="1600" dirty="0"/>
          </a:p>
          <a:p>
            <a:pPr indent="0" marL="0">
              <a:buNone/>
            </a:pPr>
            <a:r>
              <a:rPr lang="en-US" sz="1600" dirty="0">
                <a:solidFill>
                  <a:schemeClr val="accent3"/>
                </a:solidFill>
              </a:rPr>
              <a:t>Team 9 · Jaskaran Kalra, William McDonnell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algn="l" indent="0" marL="0">
              <a:buNone/>
            </a:pPr>
            <a:r>
              <a:rPr lang="en-US" sz="2600" b="1" dirty="0">
                <a:solidFill>
                  <a:schemeClr val="tx2"/>
                </a:solidFill>
              </a:rPr>
              <a:t>The problem: a noisy price from a rough model</a:t>
            </a:r>
            <a:endParaRPr lang="en-US" sz="2600" dirty="0"/>
          </a:p>
        </p:txBody>
      </p:sp>
      <p:sp>
        <p:nvSpPr>
          <p:cNvPr id="3" name="problem bullets"/>
          <p:cNvSpPr txBox="1"/>
          <p:nvPr/>
        </p:nvSpPr>
        <p:spPr>
          <a:xfrm>
            <a:off x="457200" y="1097280"/>
            <a:ext cx="4023360" cy="210312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Stock volatility moves randomly and very roughly (H = 0.1)</a:t>
            </a:r>
            <a:endParaRPr lang="en-US" sz="1500" dirty="0"/>
          </a:p>
          <a:p>
            <a:pPr marL="342900" indent="-342900">
              <a:spcAft>
                <a:spcPts val="800"/>
              </a:spcAft>
              <a:buSzPct val="100000"/>
              <a:buChar char="•"/>
            </a:pPr>
            <a:r>
              <a:rPr lang="en-US" sz="1500" dirty="0">
                <a:solidFill>
                  <a:schemeClr val="tx1"/>
                </a:solidFill>
              </a:rPr>
              <a:t>No formula for the put price, so we simulate 100,000 paths and average</a:t>
            </a:r>
            <a:endParaRPr lang="en-US" sz="1500" dirty="0"/>
          </a:p>
          <a:p>
            <a:pPr marL="342900" indent="-342900">
              <a:spcAft>
                <a:spcPts val="800"/>
              </a:spcAft>
              <a:buSzPct val="100000"/>
              <a:buChar char="•"/>
            </a:pPr>
            <a:r>
              <a:rPr lang="en-US" sz="1500" dirty="0">
                <a:solidFill>
                  <a:schemeClr val="tx1"/>
                </a:solidFill>
              </a:rPr>
              <a:t>Averages are noisy; the goal is a smaller error bar for the same work</a:t>
            </a:r>
            <a:endParaRPr lang="en-US" sz="1500" dirty="0"/>
          </a:p>
        </p:txBody>
      </p:sp>
      <p:sp>
        <p:nvSpPr>
          <p:cNvPr id="4" name="checks card"/>
          <p:cNvSpPr/>
          <p:nvPr/>
        </p:nvSpPr>
        <p:spPr>
          <a:xfrm>
            <a:off x="457200" y="3337560"/>
            <a:ext cx="4023360" cy="1234440"/>
          </a:xfrm>
          <a:prstGeom prst="roundRect">
            <a:avLst>
              <a:gd name="adj" fmla="val 5926"/>
            </a:avLst>
          </a:prstGeom>
          <a:solidFill>
            <a:schemeClr val="bg2"/>
          </a:solidFill>
          <a:ln w="12700">
            <a:solidFill>
              <a:schemeClr val="bg2"/>
            </a:solidFill>
            <a:prstDash val="solid"/>
          </a:ln>
        </p:spPr>
      </p:sp>
      <p:sp>
        <p:nvSpPr>
          <p:cNvPr id="5" name="checks text"/>
          <p:cNvSpPr txBox="1"/>
          <p:nvPr/>
        </p:nvSpPr>
        <p:spPr>
          <a:xfrm>
            <a:off x="640080" y="3429000"/>
            <a:ext cx="3657600" cy="1051560"/>
          </a:xfrm>
          <a:prstGeom prst="rect">
            <a:avLst/>
          </a:prstGeom>
          <a:noFill/>
          <a:ln/>
        </p:spPr>
        <p:txBody>
          <a:bodyPr wrap="square" rtlCol="0" anchor="t"/>
          <a:lstStyle/>
          <a:p>
            <a:pPr indent="0" marL="0">
              <a:buNone/>
            </a:pPr>
            <a:r>
              <a:rPr lang="en-US" sz="1300" b="1" dirty="0">
                <a:solidFill>
                  <a:schemeClr val="tx1"/>
                </a:solidFill>
              </a:rPr>
              <a:t>Simulator checked</a:t>
            </a:r>
            <a:endParaRPr lang="en-US" sz="1300" dirty="0"/>
          </a:p>
          <a:p>
            <a:pPr indent="0" marL="0">
              <a:buNone/>
            </a:pPr>
            <a:r>
              <a:rPr lang="en-US" sz="1300" dirty="0">
                <a:solidFill>
                  <a:schemeClr val="tx1"/>
                </a:solidFill>
              </a:rPr>
              <a:t>Average variance = model value (within 2 std. errors)</a:t>
            </a:r>
            <a:endParaRPr lang="en-US" sz="1300" dirty="0"/>
          </a:p>
          <a:p>
            <a:pPr indent="0" marL="0">
              <a:buNone/>
            </a:pPr>
            <a:r>
              <a:rPr lang="en-US" sz="1300" dirty="0">
                <a:solidFill>
                  <a:schemeClr val="tx1"/>
                </a:solidFill>
              </a:rPr>
              <a:t>Vol-of-vol = 0 gives the Black–Scholes price exactly</a:t>
            </a:r>
            <a:endParaRPr lang="en-US" sz="1300" dirty="0"/>
          </a:p>
        </p:txBody>
      </p:sp>
      <p:pic>
        <p:nvPicPr>
          <p:cNvPr id="6" name="variance paths figure" descr="/home/claude/rbergomi-vr/slides/variance_paths.png">    </p:cNvPr>
          <p:cNvPicPr>
            <a:picLocks noChangeAspect="1"/>
          </p:cNvPicPr>
          <p:nvPr/>
        </p:nvPicPr>
        <p:blipFill>
          <a:blip r:embed="rId1"/>
          <a:stretch>
            <a:fillRect/>
          </a:stretch>
        </p:blipFill>
        <p:spPr>
          <a:xfrm>
            <a:off x="4709160" y="1325880"/>
            <a:ext cx="4023360" cy="1453896"/>
          </a:xfrm>
          <a:prstGeom prst="rect">
            <a:avLst/>
          </a:prstGeom>
        </p:spPr>
      </p:pic>
      <p:sp>
        <p:nvSpPr>
          <p:cNvPr id="7" name="fig caption"/>
          <p:cNvSpPr txBox="1"/>
          <p:nvPr/>
        </p:nvSpPr>
        <p:spPr>
          <a:xfrm>
            <a:off x="4709160" y="2834640"/>
            <a:ext cx="4023360" cy="457200"/>
          </a:xfrm>
          <a:prstGeom prst="rect">
            <a:avLst/>
          </a:prstGeom>
          <a:noFill/>
          <a:ln/>
        </p:spPr>
        <p:txBody>
          <a:bodyPr wrap="square" rtlCol="0" anchor="ctr"/>
          <a:lstStyle/>
          <a:p>
            <a:pPr indent="0" marL="0">
              <a:buNone/>
            </a:pPr>
            <a:r>
              <a:rPr lang="en-US" sz="1100" dirty="0">
                <a:solidFill>
                  <a:schemeClr val="accent5"/>
                </a:solidFill>
              </a:rPr>
              <a:t>Same random inputs: rough (H = 0.1) vs smoother (H = 0.4) variance paths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algn="l" indent="0" marL="0">
              <a:buNone/>
            </a:pPr>
            <a:r>
              <a:rPr lang="en-US" sz="2600" b="1" dirty="0">
                <a:solidFill>
                  <a:schemeClr val="tx2"/>
                </a:solidFill>
              </a:rPr>
              <a:t>Four ways to estimate the same price</a:t>
            </a:r>
            <a:endParaRPr lang="en-US" sz="2600" dirty="0"/>
          </a:p>
        </p:txBody>
      </p:sp>
      <p:sp>
        <p:nvSpPr>
          <p:cNvPr id="3" name="method card 1"/>
          <p:cNvSpPr/>
          <p:nvPr/>
        </p:nvSpPr>
        <p:spPr>
          <a:xfrm>
            <a:off x="457200" y="1143000"/>
            <a:ext cx="4023360" cy="1554480"/>
          </a:xfrm>
          <a:prstGeom prst="roundRect">
            <a:avLst>
              <a:gd name="adj" fmla="val 4706"/>
            </a:avLst>
          </a:prstGeom>
          <a:solidFill>
            <a:schemeClr val="bg2"/>
          </a:solidFill>
          <a:ln w="12700">
            <a:solidFill>
              <a:schemeClr val="bg2"/>
            </a:solidFill>
            <a:prstDash val="solid"/>
          </a:ln>
        </p:spPr>
      </p:sp>
      <p:sp>
        <p:nvSpPr>
          <p:cNvPr id="4" name="method text 1"/>
          <p:cNvSpPr txBox="1"/>
          <p:nvPr/>
        </p:nvSpPr>
        <p:spPr>
          <a:xfrm>
            <a:off x="640080" y="1252728"/>
            <a:ext cx="3657600" cy="1335024"/>
          </a:xfrm>
          <a:prstGeom prst="rect">
            <a:avLst/>
          </a:prstGeom>
          <a:noFill/>
          <a:ln/>
        </p:spPr>
        <p:txBody>
          <a:bodyPr wrap="square" rtlCol="0" anchor="t"/>
          <a:lstStyle/>
          <a:p>
            <a:pPr indent="0" marL="0">
              <a:spcAft>
                <a:spcPts val="400"/>
              </a:spcAft>
              <a:buNone/>
            </a:pPr>
            <a:r>
              <a:rPr lang="en-US" sz="1600" b="1" dirty="0">
                <a:solidFill>
                  <a:schemeClr val="accent1"/>
                </a:solidFill>
              </a:rPr>
              <a:t>Plain</a:t>
            </a:r>
            <a:endParaRPr lang="en-US" sz="1600" dirty="0"/>
          </a:p>
          <a:p>
            <a:pPr indent="0" marL="0">
              <a:spcAft>
                <a:spcPts val="400"/>
              </a:spcAft>
              <a:buNone/>
            </a:pPr>
            <a:r>
              <a:rPr lang="en-US" sz="1300" dirty="0">
                <a:solidFill>
                  <a:schemeClr val="tx1"/>
                </a:solidFill>
              </a:rPr>
              <a:t>Simulate paths, average the payoffs. The baseline.</a:t>
            </a:r>
            <a:endParaRPr lang="en-US" sz="1600" dirty="0"/>
          </a:p>
        </p:txBody>
      </p:sp>
      <p:sp>
        <p:nvSpPr>
          <p:cNvPr id="5" name="method card 2"/>
          <p:cNvSpPr/>
          <p:nvPr/>
        </p:nvSpPr>
        <p:spPr>
          <a:xfrm>
            <a:off x="4663440" y="1143000"/>
            <a:ext cx="4023360" cy="1554480"/>
          </a:xfrm>
          <a:prstGeom prst="roundRect">
            <a:avLst>
              <a:gd name="adj" fmla="val 4706"/>
            </a:avLst>
          </a:prstGeom>
          <a:solidFill>
            <a:schemeClr val="bg2"/>
          </a:solidFill>
          <a:ln w="12700">
            <a:solidFill>
              <a:schemeClr val="bg2"/>
            </a:solidFill>
            <a:prstDash val="solid"/>
          </a:ln>
        </p:spPr>
      </p:sp>
      <p:sp>
        <p:nvSpPr>
          <p:cNvPr id="6" name="method text 2"/>
          <p:cNvSpPr txBox="1"/>
          <p:nvPr/>
        </p:nvSpPr>
        <p:spPr>
          <a:xfrm>
            <a:off x="4846320" y="1252728"/>
            <a:ext cx="3657600" cy="1335024"/>
          </a:xfrm>
          <a:prstGeom prst="rect">
            <a:avLst/>
          </a:prstGeom>
          <a:noFill/>
          <a:ln/>
        </p:spPr>
        <p:txBody>
          <a:bodyPr wrap="square" rtlCol="0" anchor="t"/>
          <a:lstStyle/>
          <a:p>
            <a:pPr indent="0" marL="0">
              <a:spcAft>
                <a:spcPts val="400"/>
              </a:spcAft>
              <a:buNone/>
            </a:pPr>
            <a:r>
              <a:rPr lang="en-US" sz="1600" b="1" dirty="0">
                <a:solidFill>
                  <a:schemeClr val="accent1"/>
                </a:solidFill>
              </a:rPr>
              <a:t>Control variate (CV)</a:t>
            </a:r>
            <a:endParaRPr lang="en-US" sz="1600" dirty="0"/>
          </a:p>
          <a:p>
            <a:pPr indent="0" marL="0">
              <a:spcAft>
                <a:spcPts val="400"/>
              </a:spcAft>
              <a:buNone/>
            </a:pPr>
            <a:r>
              <a:rPr lang="en-US" sz="1300" dirty="0">
                <a:solidFill>
                  <a:schemeClr val="tx1"/>
                </a:solidFill>
              </a:rPr>
              <a:t>Also price a Black–Scholes stock on the same random numbers; its exact price lets us correct the noise.</a:t>
            </a:r>
            <a:endParaRPr lang="en-US" sz="1600" dirty="0"/>
          </a:p>
        </p:txBody>
      </p:sp>
      <p:sp>
        <p:nvSpPr>
          <p:cNvPr id="7" name="method card 3"/>
          <p:cNvSpPr/>
          <p:nvPr/>
        </p:nvSpPr>
        <p:spPr>
          <a:xfrm>
            <a:off x="457200" y="2880360"/>
            <a:ext cx="4023360" cy="1554480"/>
          </a:xfrm>
          <a:prstGeom prst="roundRect">
            <a:avLst>
              <a:gd name="adj" fmla="val 4706"/>
            </a:avLst>
          </a:prstGeom>
          <a:solidFill>
            <a:schemeClr val="bg2"/>
          </a:solidFill>
          <a:ln w="12700">
            <a:solidFill>
              <a:schemeClr val="bg2"/>
            </a:solidFill>
            <a:prstDash val="solid"/>
          </a:ln>
        </p:spPr>
      </p:sp>
      <p:sp>
        <p:nvSpPr>
          <p:cNvPr id="8" name="method text 3"/>
          <p:cNvSpPr txBox="1"/>
          <p:nvPr/>
        </p:nvSpPr>
        <p:spPr>
          <a:xfrm>
            <a:off x="640080" y="2990088"/>
            <a:ext cx="3657600" cy="1335024"/>
          </a:xfrm>
          <a:prstGeom prst="rect">
            <a:avLst/>
          </a:prstGeom>
          <a:noFill/>
          <a:ln/>
        </p:spPr>
        <p:txBody>
          <a:bodyPr wrap="square" rtlCol="0" anchor="t"/>
          <a:lstStyle/>
          <a:p>
            <a:pPr indent="0" marL="0">
              <a:spcAft>
                <a:spcPts val="400"/>
              </a:spcAft>
              <a:buNone/>
            </a:pPr>
            <a:r>
              <a:rPr lang="en-US" sz="1600" b="1" dirty="0">
                <a:solidFill>
                  <a:schemeClr val="accent1"/>
                </a:solidFill>
              </a:rPr>
              <a:t>Antithetic (AV)</a:t>
            </a:r>
            <a:endParaRPr lang="en-US" sz="1600" dirty="0"/>
          </a:p>
          <a:p>
            <a:pPr indent="0" marL="0">
              <a:spcAft>
                <a:spcPts val="400"/>
              </a:spcAft>
              <a:buNone/>
            </a:pPr>
            <a:r>
              <a:rPr lang="en-US" sz="1300" dirty="0">
                <a:solidFill>
                  <a:schemeClr val="tx1"/>
                </a:solidFill>
              </a:rPr>
              <a:t>Use every set of random numbers twice: as is and flipped. Errors partly cancel; half the random numbers needed.</a:t>
            </a:r>
            <a:endParaRPr lang="en-US" sz="1600" dirty="0"/>
          </a:p>
        </p:txBody>
      </p:sp>
      <p:sp>
        <p:nvSpPr>
          <p:cNvPr id="9" name="method card 4"/>
          <p:cNvSpPr/>
          <p:nvPr/>
        </p:nvSpPr>
        <p:spPr>
          <a:xfrm>
            <a:off x="4663440" y="2880360"/>
            <a:ext cx="4023360" cy="1554480"/>
          </a:xfrm>
          <a:prstGeom prst="roundRect">
            <a:avLst>
              <a:gd name="adj" fmla="val 4706"/>
            </a:avLst>
          </a:prstGeom>
          <a:solidFill>
            <a:schemeClr val="bg2"/>
          </a:solidFill>
          <a:ln w="12700">
            <a:solidFill>
              <a:schemeClr val="bg2"/>
            </a:solidFill>
            <a:prstDash val="solid"/>
          </a:ln>
        </p:spPr>
      </p:sp>
      <p:sp>
        <p:nvSpPr>
          <p:cNvPr id="10" name="method text 4"/>
          <p:cNvSpPr txBox="1"/>
          <p:nvPr/>
        </p:nvSpPr>
        <p:spPr>
          <a:xfrm>
            <a:off x="4846320" y="2990088"/>
            <a:ext cx="3657600" cy="1335024"/>
          </a:xfrm>
          <a:prstGeom prst="rect">
            <a:avLst/>
          </a:prstGeom>
          <a:noFill/>
          <a:ln/>
        </p:spPr>
        <p:txBody>
          <a:bodyPr wrap="square" rtlCol="0" anchor="t"/>
          <a:lstStyle/>
          <a:p>
            <a:pPr indent="0" marL="0">
              <a:spcAft>
                <a:spcPts val="400"/>
              </a:spcAft>
              <a:buNone/>
            </a:pPr>
            <a:r>
              <a:rPr lang="en-US" sz="1600" b="1" dirty="0">
                <a:solidFill>
                  <a:schemeClr val="accent1"/>
                </a:solidFill>
              </a:rPr>
              <a:t>Combined (AV+CV)</a:t>
            </a:r>
            <a:endParaRPr lang="en-US" sz="1600" dirty="0"/>
          </a:p>
          <a:p>
            <a:pPr indent="0" marL="0">
              <a:spcAft>
                <a:spcPts val="400"/>
              </a:spcAft>
              <a:buNone/>
            </a:pPr>
            <a:r>
              <a:rPr lang="en-US" sz="1300" dirty="0">
                <a:solidFill>
                  <a:schemeClr val="tx1"/>
                </a:solidFill>
              </a:rPr>
              <a:t>Flip the random numbers and apply the control to each pair.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algn="l" indent="0" marL="0">
              <a:buNone/>
            </a:pPr>
            <a:r>
              <a:rPr lang="en-US" sz="2600" b="1" dirty="0">
                <a:solidFill>
                  <a:schemeClr val="tx2"/>
                </a:solidFill>
              </a:rPr>
              <a:t>CV cuts the error most; AV+CV is best per second</a:t>
            </a:r>
            <a:endParaRPr lang="en-US" sz="2600" dirty="0"/>
          </a:p>
        </p:txBody>
      </p:sp>
      <p:graphicFrame>
        <p:nvGraphicFramePr>
          <p:cNvPr id="3" name="results chart" descr=""/>
          <p:cNvGraphicFramePr/>
          <p:nvPr/>
        </p:nvGraphicFramePr>
        <p:xfrm>
          <a:off x="457200" y="1097280"/>
          <a:ext cx="4846320" cy="347472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5577840" y="1097280"/>
            <a:ext cx="3108960" cy="3474720"/>
          </a:xfrm>
          <a:prstGeom prst="roundRect">
            <a:avLst>
              <a:gd name="adj" fmla="val 2353"/>
            </a:avLst>
          </a:prstGeom>
          <a:solidFill>
            <a:schemeClr val="bg2"/>
          </a:solidFill>
          <a:ln w="12700">
            <a:solidFill>
              <a:schemeClr val="bg2"/>
            </a:solidFill>
            <a:prstDash val="solid"/>
          </a:ln>
        </p:spPr>
      </p:sp>
      <p:sp>
        <p:nvSpPr>
          <p:cNvPr id="5" name="takeaway text"/>
          <p:cNvSpPr txBox="1"/>
          <p:nvPr/>
        </p:nvSpPr>
        <p:spPr>
          <a:xfrm>
            <a:off x="5760720" y="1234440"/>
            <a:ext cx="2743200" cy="3200400"/>
          </a:xfrm>
          <a:prstGeom prst="rect">
            <a:avLst/>
          </a:prstGeom>
          <a:noFill/>
          <a:ln/>
        </p:spPr>
        <p:txBody>
          <a:bodyPr wrap="square" rtlCol="0" anchor="t"/>
          <a:lstStyle/>
          <a:p>
            <a:pPr indent="0" marL="0">
              <a:spcAft>
                <a:spcPts val="600"/>
              </a:spcAft>
              <a:buNone/>
            </a:pPr>
            <a:r>
              <a:rPr lang="en-US" sz="1500" b="1" dirty="0">
                <a:solidFill>
                  <a:schemeClr val="tx2"/>
                </a:solidFill>
              </a:rPr>
              <a:t>What the bars say</a:t>
            </a:r>
            <a:endParaRPr lang="en-US" sz="1300" dirty="0"/>
          </a:p>
          <a:p>
            <a:pPr marL="342900" indent="-342900">
              <a:spcAft>
                <a:spcPts val="600"/>
              </a:spcAft>
              <a:buSzPct val="100000"/>
              <a:buChar char="•"/>
            </a:pPr>
            <a:r>
              <a:rPr lang="en-US" sz="1300" dirty="0">
                <a:solidFill>
                  <a:schemeClr val="tx1"/>
                </a:solidFill>
              </a:rPr>
              <a:t>CV: error variance 3.2× smaller</a:t>
            </a:r>
            <a:endParaRPr lang="en-US" sz="1300" dirty="0"/>
          </a:p>
          <a:p>
            <a:pPr marL="342900" indent="-342900">
              <a:spcAft>
                <a:spcPts val="600"/>
              </a:spcAft>
              <a:buSzPct val="100000"/>
              <a:buChar char="•"/>
            </a:pPr>
            <a:r>
              <a:rPr lang="en-US" sz="1300" dirty="0">
                <a:solidFill>
                  <a:schemeClr val="tx1"/>
                </a:solidFill>
              </a:rPr>
              <a:t>AV: only 1.4× smaller, but cheapest to run</a:t>
            </a:r>
            <a:endParaRPr lang="en-US" sz="1300" dirty="0"/>
          </a:p>
          <a:p>
            <a:pPr marL="342900" indent="-342900">
              <a:spcAft>
                <a:spcPts val="600"/>
              </a:spcAft>
              <a:buSzPct val="100000"/>
              <a:buChar char="•"/>
            </a:pPr>
            <a:r>
              <a:rPr lang="en-US" sz="1300" dirty="0">
                <a:solidFill>
                  <a:schemeClr val="tx1"/>
                </a:solidFill>
              </a:rPr>
              <a:t>AV+CV: almost CV's accuracy at lower cost, so best overall at K = 90 and 100</a:t>
            </a:r>
            <a:endParaRPr lang="en-US" sz="1300" dirty="0"/>
          </a:p>
          <a:p>
            <a:pPr marL="342900" indent="-342900">
              <a:spcAft>
                <a:spcPts val="600"/>
              </a:spcAft>
              <a:buSzPct val="100000"/>
              <a:buChar char="•"/>
            </a:pPr>
            <a:r>
              <a:rPr lang="en-US" sz="1300" dirty="0">
                <a:solidFill>
                  <a:schemeClr val="tx1"/>
                </a:solidFill>
              </a:rPr>
              <a:t>All four give the same price within their error bars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algn="l" indent="0" marL="0">
              <a:buNone/>
            </a:pPr>
            <a:r>
              <a:rPr lang="en-US" sz="2600" b="1" dirty="0">
                <a:solidFill>
                  <a:schemeClr val="tx2"/>
                </a:solidFill>
              </a:rPr>
              <a:t>Calmer volatility: the control works much better</a:t>
            </a:r>
            <a:endParaRPr lang="en-US" sz="2600" dirty="0"/>
          </a:p>
        </p:txBody>
      </p:sp>
      <p:graphicFrame>
        <p:nvGraphicFramePr>
          <p:cNvPr id="3" name="sensitivity chart" descr=""/>
          <p:cNvGraphicFramePr/>
          <p:nvPr/>
        </p:nvGraphicFramePr>
        <p:xfrm>
          <a:off x="457200" y="1097280"/>
          <a:ext cx="4846320" cy="3474720"/>
        </p:xfrm>
        <a:graphic xmlns:a="http://schemas.openxmlformats.org/drawingml/2006/main">
          <a:graphicData uri="http://schemas.openxmlformats.org/drawingml/2006/chart">
            <c:chart xmlns:c="http://schemas.openxmlformats.org/drawingml/2006/chart" r:id="rId1"/>
          </a:graphicData>
        </a:graphic>
      </p:graphicFrame>
      <p:sp>
        <p:nvSpPr>
          <p:cNvPr id="4" name="why card"/>
          <p:cNvSpPr/>
          <p:nvPr/>
        </p:nvSpPr>
        <p:spPr>
          <a:xfrm>
            <a:off x="5577840" y="1097280"/>
            <a:ext cx="3108960" cy="3474720"/>
          </a:xfrm>
          <a:prstGeom prst="roundRect">
            <a:avLst>
              <a:gd name="adj" fmla="val 2353"/>
            </a:avLst>
          </a:prstGeom>
          <a:solidFill>
            <a:schemeClr val="bg2"/>
          </a:solidFill>
          <a:ln w="12700">
            <a:solidFill>
              <a:schemeClr val="bg2"/>
            </a:solidFill>
            <a:prstDash val="solid"/>
          </a:ln>
        </p:spPr>
      </p:sp>
      <p:sp>
        <p:nvSpPr>
          <p:cNvPr id="5" name="why text"/>
          <p:cNvSpPr txBox="1"/>
          <p:nvPr/>
        </p:nvSpPr>
        <p:spPr>
          <a:xfrm>
            <a:off x="5760720" y="1234440"/>
            <a:ext cx="2743200" cy="3200400"/>
          </a:xfrm>
          <a:prstGeom prst="rect">
            <a:avLst/>
          </a:prstGeom>
          <a:noFill/>
          <a:ln/>
        </p:spPr>
        <p:txBody>
          <a:bodyPr wrap="square" rtlCol="0" anchor="t"/>
          <a:lstStyle/>
          <a:p>
            <a:pPr indent="0" marL="0">
              <a:spcAft>
                <a:spcPts val="600"/>
              </a:spcAft>
              <a:buNone/>
            </a:pPr>
            <a:r>
              <a:rPr lang="en-US" sz="1500" b="1" dirty="0">
                <a:solidFill>
                  <a:schemeClr val="tx2"/>
                </a:solidFill>
              </a:rPr>
              <a:t>Why</a:t>
            </a:r>
            <a:endParaRPr lang="en-US" sz="1300" dirty="0"/>
          </a:p>
          <a:p>
            <a:pPr marL="342900" indent="-342900">
              <a:spcAft>
                <a:spcPts val="600"/>
              </a:spcAft>
              <a:buSzPct val="100000"/>
              <a:buChar char="•"/>
            </a:pPr>
            <a:r>
              <a:rPr lang="en-US" sz="1300" dirty="0">
                <a:solidFill>
                  <a:schemeClr val="tx1"/>
                </a:solidFill>
              </a:rPr>
              <a:t>The control is a Black–Scholes stock. The calmer the volatility, the more the real stock looks like it, and the better it cancels noise</a:t>
            </a:r>
            <a:endParaRPr lang="en-US" sz="1300" dirty="0"/>
          </a:p>
          <a:p>
            <a:pPr marL="342900" indent="-342900">
              <a:spcAft>
                <a:spcPts val="600"/>
              </a:spcAft>
              <a:buSzPct val="100000"/>
              <a:buChar char="•"/>
            </a:pPr>
            <a:r>
              <a:rPr lang="en-US" sz="1300" dirty="0">
                <a:solidFill>
                  <a:schemeClr val="tx1"/>
                </a:solidFill>
              </a:rPr>
              <a:t>Baseline: flipping and the control remove the same noise, so combining adds little</a:t>
            </a:r>
            <a:endParaRPr lang="en-US" sz="1300" dirty="0"/>
          </a:p>
          <a:p>
            <a:pPr marL="342900" indent="-342900">
              <a:spcAft>
                <a:spcPts val="600"/>
              </a:spcAft>
              <a:buSzPct val="100000"/>
              <a:buChar char="•"/>
            </a:pPr>
            <a:r>
              <a:rPr lang="en-US" sz="1300" dirty="0">
                <a:solidFill>
                  <a:schemeClr val="tx1"/>
                </a:solidFill>
              </a:rPr>
              <a:t>Calmer cases: combining beats both</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nchor="b"/>
          <a:lstStyle/>
          <a:p>
            <a:pPr algn="l" indent="0" marL="0">
              <a:buNone/>
            </a:pPr>
            <a:r>
              <a:rPr lang="en-US" sz="3600" b="1" dirty="0">
                <a:solidFill>
                  <a:schemeClr val="bg1"/>
                </a:solidFill>
              </a:rPr>
              <a:t>Takeaways</a:t>
            </a:r>
            <a:endParaRPr lang="en-US" sz="3600" dirty="0"/>
          </a:p>
        </p:txBody>
      </p:sp>
      <p:sp>
        <p:nvSpPr>
          <p:cNvPr id="3" name="Text 0"/>
          <p:cNvSpPr/>
          <p:nvPr>
            <p:ph idx="101" type="body" hasCustomPrompt="1"/>
          </p:nvPr>
        </p:nvSpPr>
        <p:spPr>
          <a:xfrm>
            <a:off x="548640" y="2788920"/>
            <a:ext cx="8046720" cy="1097280"/>
          </a:xfrm>
          <a:prstGeom prst="rect">
            <a:avLst/>
          </a:prstGeom>
          <a:noFill/>
          <a:ln/>
        </p:spPr>
        <p:txBody>
          <a:bodyPr wrap="square" rtlCol="0" anchor="t"/>
          <a:lstStyle/>
          <a:p>
            <a:pPr marL="342900" indent="-342900">
              <a:spcAft>
                <a:spcPts val="800"/>
              </a:spcAft>
              <a:buSzPct val="100000"/>
              <a:buChar char="•"/>
            </a:pPr>
            <a:r>
              <a:rPr lang="en-US" sz="1600" dirty="0">
                <a:solidFill>
                  <a:schemeClr val="accent3"/>
                </a:solidFill>
              </a:rPr>
              <a:t>The control variate gives the biggest accuracy gain; antithetic gives the biggest speed gain</a:t>
            </a:r>
            <a:endParaRPr lang="en-US" sz="1600" dirty="0"/>
          </a:p>
          <a:p>
            <a:pPr marL="342900" indent="-342900">
              <a:spcAft>
                <a:spcPts val="800"/>
              </a:spcAft>
              <a:buSzPct val="100000"/>
              <a:buChar char="•"/>
            </a:pPr>
            <a:r>
              <a:rPr lang="en-US" sz="1600" dirty="0">
                <a:solidFill>
                  <a:schemeClr val="accent3"/>
                </a:solidFill>
              </a:rPr>
              <a:t>Combined is the most efficient at K = 90 and 100 once run time counts</a:t>
            </a:r>
            <a:endParaRPr lang="en-US" sz="1600" dirty="0"/>
          </a:p>
          <a:p>
            <a:pPr marL="342900" indent="-342900">
              <a:spcAft>
                <a:spcPts val="800"/>
              </a:spcAft>
              <a:buSzPct val="100000"/>
              <a:buChar char="•"/>
            </a:pPr>
            <a:r>
              <a:rPr lang="en-US" sz="1600" dirty="0">
                <a:solidFill>
                  <a:schemeClr val="accent3"/>
                </a:solidFill>
              </a:rPr>
              <a:t>Rougher, wilder volatility makes every trick less effective</a:t>
            </a:r>
            <a:endParaRPr lang="en-US" sz="1600" dirty="0"/>
          </a:p>
        </p:txBody>
      </p:sp>
    </p:spTree>
  </p:cSld>
  <p:clrMapOvr>
    <a:masterClrMapping/>
  </p:clrMapOvr>
</p:sld>
</file>

<file path=ppt/theme/theme1.xml><?xml version="1.0" encoding="utf-8"?>
<a:theme xmlns:a="http://schemas.openxmlformats.org/drawingml/2006/main" name="Rough Vol">
  <a:themeElements>
    <a:clrScheme name="Rough Vol">
      <a:dk1>
        <a:srgbClr val="1E2328"/>
      </a:dk1>
      <a:lt1>
        <a:srgbClr val="FFFFFF"/>
      </a:lt1>
      <a:dk2>
        <a:srgbClr val="23313D"/>
      </a:dk2>
      <a:lt2>
        <a:srgbClr val="EEF2F4"/>
      </a:lt2>
      <a:accent1>
        <a:srgbClr val="D9622B"/>
      </a:accent1>
      <a:accent2>
        <a:srgbClr val="2F7D8C"/>
      </a:accent2>
      <a:accent3>
        <a:srgbClr val="8FA3AE"/>
      </a:accent3>
      <a:accent4>
        <a:srgbClr val="E9B44C"/>
      </a:accent4>
      <a:accent5>
        <a:srgbClr val="5B6770"/>
      </a:accent5>
      <a:accent6>
        <a:srgbClr val="B23A48"/>
      </a:accent6>
      <a:hlink>
        <a:srgbClr val="2F7D8C"/>
      </a:hlink>
      <a:folHlink>
        <a:srgbClr val="5B6770"/>
      </a:folHlink>
    </a:clrScheme>
    <a:fontScheme name="Rough Vo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Variance reduction in a rough volatility model</dc:title>
  <dc:subject>PptxGenJS Presentation</dc:subject>
  <dc:creator>Team 9</dc:creator>
  <cp:lastModifiedBy>Team 9</cp:lastModifiedBy>
  <cp:revision>1</cp:revision>
  <dcterms:created xsi:type="dcterms:W3CDTF">2026-10-05T00:51:30Z</dcterms:created>
  <dcterms:modified xsi:type="dcterms:W3CDTF">2026-10-05T00:51:30Z</dcterms:modified>
</cp:coreProperties>
</file>